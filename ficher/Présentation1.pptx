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3" r:id="rId2"/>
    <p:sldId id="4392" r:id="rId3"/>
    <p:sldId id="4394" r:id="rId4"/>
    <p:sldId id="285" r:id="rId5"/>
    <p:sldId id="327" r:id="rId6"/>
    <p:sldId id="315" r:id="rId7"/>
    <p:sldId id="317" r:id="rId8"/>
    <p:sldId id="318" r:id="rId9"/>
    <p:sldId id="330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823B20-62FC-4532-8416-E8D23FB49D01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EBD72A-41D5-44D4-B05C-812E21F9D4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3895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Bonjour à tous,</a:t>
            </a:r>
          </a:p>
          <a:p>
            <a:r>
              <a:rPr lang="fr-FR" b="1" dirty="0"/>
              <a:t>Avant</a:t>
            </a:r>
            <a:r>
              <a:rPr lang="fr-FR" b="1" baseline="0" dirty="0"/>
              <a:t> tout</a:t>
            </a:r>
          </a:p>
          <a:p>
            <a:r>
              <a:rPr lang="fr-FR" b="1" baseline="0" dirty="0"/>
              <a:t>Je tiens à remercier monsieur le président du jury et monsieur le rapporteur d’avoir accepté d’évaluer mon travail intitulé </a:t>
            </a:r>
            <a:r>
              <a:rPr lang="fr-FR" sz="1200" b="1" u="sng" dirty="0">
                <a:solidFill>
                  <a:schemeClr val="tx2"/>
                </a:solidFill>
                <a:latin typeface="Lato Regular"/>
              </a:rPr>
              <a:t>Conception et développement</a:t>
            </a:r>
            <a:r>
              <a:rPr lang="fr-FR" sz="1200" b="1" u="sng" baseline="0" dirty="0">
                <a:solidFill>
                  <a:schemeClr val="tx2"/>
                </a:solidFill>
                <a:latin typeface="Lato Regular"/>
              </a:rPr>
              <a:t> </a:t>
            </a:r>
            <a:r>
              <a:rPr lang="fr-FR" sz="1200" b="1" u="sng" dirty="0">
                <a:solidFill>
                  <a:schemeClr val="tx2"/>
                </a:solidFill>
                <a:latin typeface="Lato Regular"/>
              </a:rPr>
              <a:t>d’une application d’affacturage </a:t>
            </a:r>
            <a:r>
              <a:rPr lang="fr-FR" sz="1200" b="1" u="sng" dirty="0">
                <a:solidFill>
                  <a:schemeClr val="tx2"/>
                </a:solidFill>
                <a:latin typeface="Lato Regular"/>
                <a:sym typeface="Oswald"/>
              </a:rPr>
              <a:t>ScanIT</a:t>
            </a:r>
            <a:endParaRPr lang="fr-FR" sz="1200" b="1" u="sng" baseline="0" dirty="0">
              <a:solidFill>
                <a:schemeClr val="tx2"/>
              </a:solidFill>
              <a:latin typeface="Lato Regular"/>
              <a:sym typeface="Oswald"/>
            </a:endParaRPr>
          </a:p>
          <a:p>
            <a:r>
              <a:rPr lang="fr-FR" b="1" baseline="0" dirty="0"/>
              <a:t>Je profite pour remercier particulièrement mes encadrants monsieur Montassar ben Saad et monsieur Mohamed Jomaa de m’avoir guider durant cette période de stage.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4DAAD-8849-445B-9690-387660FEE7D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0371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2000" dirty="0"/>
              <a:t>Parmi</a:t>
            </a:r>
            <a:r>
              <a:rPr lang="fr-FR" sz="2000" baseline="0" dirty="0"/>
              <a:t> les applications qui offre des fonctionnalités similaires à celles que nous souhaitons implémenter dans notre application on cite : </a:t>
            </a:r>
          </a:p>
          <a:p>
            <a:endParaRPr lang="fr-FR" sz="2000" baseline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aseline="0" dirty="0"/>
              <a:t>NextBooks : a pour fonctionnalité principale la gestion des </a:t>
            </a:r>
            <a:r>
              <a:rPr lang="fr-FR" sz="3200" baseline="0" dirty="0"/>
              <a:t>factures </a:t>
            </a:r>
            <a:r>
              <a:rPr lang="fr-FR" sz="2000" baseline="0" dirty="0"/>
              <a:t>avec la saisie manuelle de chaque facture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aseline="0" dirty="0"/>
              <a:t>Invoice2go :  permet de créer une facture ou des devis sous forme d’un formulaire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baseline="0" dirty="0"/>
          </a:p>
          <a:p>
            <a:r>
              <a:rPr lang="fr-FR" sz="2000" baseline="0" dirty="0">
                <a:solidFill>
                  <a:srgbClr val="FF0000"/>
                </a:solidFill>
              </a:rPr>
              <a:t>Grace à cette étude approfondie, nous sommes capable de dégager les objectifs visés pour notre solution</a:t>
            </a:r>
            <a:endParaRPr lang="fr-FR" sz="2000" dirty="0">
              <a:solidFill>
                <a:srgbClr val="FF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4DAAD-8849-445B-9690-387660FEE7D1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8043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3" name="Shape 143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buFont typeface="Arial" panose="020B0604020202020204" pitchFamily="34" charset="0"/>
              <a:buAutoNum type="arabicPeriod"/>
            </a:pPr>
            <a:r>
              <a:rPr lang="fr-FR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client passe sa commande auprès</a:t>
            </a:r>
            <a:r>
              <a:rPr lang="fr-FR" sz="1200" b="1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l’entreprise </a:t>
            </a:r>
          </a:p>
          <a:p>
            <a:pPr marL="228600" marR="0" lvl="0" indent="-228600" algn="l" rtl="0">
              <a:spcBef>
                <a:spcPts val="0"/>
              </a:spcBef>
              <a:buFont typeface="Arial" panose="020B0604020202020204" pitchFamily="34" charset="0"/>
              <a:buAutoNum type="arabicPeriod"/>
            </a:pPr>
            <a:r>
              <a:rPr lang="fr-FR" sz="1200" b="1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que l’entreprise fait la livraison de la commande. </a:t>
            </a:r>
            <a:endParaRPr lang="fr-FR" sz="1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0"/>
              </a:spcBef>
              <a:buFont typeface="Arial" panose="020B0604020202020204" pitchFamily="34" charset="0"/>
              <a:buAutoNum type="arabicPeriod"/>
            </a:pPr>
            <a:r>
              <a:rPr lang="fr-FR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Ensuite elle cède</a:t>
            </a:r>
            <a:r>
              <a:rPr lang="fr-FR" sz="1200" b="1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ces créances à un factor </a:t>
            </a:r>
          </a:p>
          <a:p>
            <a:pPr marL="228600" marR="0" lvl="0" indent="-228600" algn="l" rtl="0">
              <a:spcBef>
                <a:spcPts val="0"/>
              </a:spcBef>
              <a:buFont typeface="Arial" panose="020B0604020202020204" pitchFamily="34" charset="0"/>
              <a:buAutoNum type="arabicPeriod"/>
            </a:pPr>
            <a:r>
              <a:rPr lang="fr-FR" sz="1200" b="1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 aura pour mission de financer et recouvrer ses factures</a:t>
            </a:r>
          </a:p>
          <a:p>
            <a:pPr marL="228600" marR="0" lvl="0" indent="-228600" algn="l" rtl="0">
              <a:spcBef>
                <a:spcPts val="0"/>
              </a:spcBef>
              <a:buFont typeface="Arial" panose="020B0604020202020204" pitchFamily="34" charset="0"/>
              <a:buAutoNum type="arabicPeriod"/>
            </a:pPr>
            <a:r>
              <a:rPr lang="fr-FR" sz="1200" b="1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ce factor là informe le client de paiement </a:t>
            </a:r>
          </a:p>
          <a:p>
            <a:pPr marL="228600" marR="0" lvl="0" indent="-228600" algn="l" rtl="0">
              <a:spcBef>
                <a:spcPts val="0"/>
              </a:spcBef>
              <a:buFont typeface="Arial" panose="020B0604020202020204" pitchFamily="34" charset="0"/>
              <a:buAutoNum type="arabicPeriod"/>
            </a:pPr>
            <a:r>
              <a:rPr lang="fr-FR" sz="1200" b="1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enfin les règlements clients seront pris en compte dans le financement.</a:t>
            </a:r>
          </a:p>
          <a:p>
            <a:pPr marL="0" marR="0" lvl="0" indent="0" algn="l" rtl="0">
              <a:spcBef>
                <a:spcPts val="0"/>
              </a:spcBef>
              <a:buFont typeface="Arial" panose="020B0604020202020204" pitchFamily="34" charset="0"/>
              <a:buNone/>
            </a:pPr>
            <a:endParaRPr lang="fr-FR" sz="1200" b="1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Font typeface="Arial" panose="020B0604020202020204" pitchFamily="34" charset="0"/>
              <a:buNone/>
            </a:pPr>
            <a:endParaRPr lang="fr-FR" sz="1200" b="1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fld id="{00000000-1234-1234-1234-123412341234}" type="slidenum">
              <a:rPr lang="fr-FR">
                <a:solidFill>
                  <a:prstClr val="black"/>
                </a:solidFill>
                <a:ea typeface="Calibri"/>
                <a:cs typeface="Calibri"/>
                <a:sym typeface="Calibri"/>
              </a:rPr>
              <a:pPr/>
              <a:t>6</a:t>
            </a:fld>
            <a:endParaRPr lang="fr-FR">
              <a:solidFill>
                <a:prstClr val="black"/>
              </a:solidFill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66657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3" name="Shape 143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commence cette partie de notre présentation par décrire l’architecture globale de notre projet qui montre les différentes parties qui construisent notre solution :</a:t>
            </a:r>
          </a:p>
          <a:p>
            <a:pPr marL="0" marR="0" lvl="0" indent="0" algn="l" rtl="0">
              <a:spcBef>
                <a:spcPts val="0"/>
              </a:spcBef>
              <a:buNone/>
            </a:pPr>
            <a:endParaRPr lang="fr-FR" sz="1200" b="0" i="0" u="none" strike="noStrike" kern="1200" cap="none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None/>
            </a:pPr>
            <a:r>
              <a:rPr lang="fr-FR" sz="1200" b="0" i="0" u="none" strike="noStrike" kern="1200" cap="none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Calibri"/>
              </a:rPr>
              <a:t>Les </a:t>
            </a:r>
            <a:r>
              <a:rPr lang="fr-FR" sz="1200" b="0" i="0" u="none" strike="noStrike" kern="1200" cap="none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Calibri"/>
              </a:rPr>
              <a:t>APIs se positionne entre la base de données SQL et les interfaces accessibles par nos clients. Dans notre architecture L’API est centralisé, il envoie les données à afficher pour nos applications web et mobile.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fld id="{00000000-1234-1234-1234-123412341234}" type="slidenum">
              <a:rPr lang="fr-FR">
                <a:solidFill>
                  <a:prstClr val="black"/>
                </a:solidFill>
                <a:ea typeface="Calibri"/>
                <a:cs typeface="Calibri"/>
                <a:sym typeface="Calibri"/>
              </a:rPr>
              <a:pPr/>
              <a:t>7</a:t>
            </a:fld>
            <a:endParaRPr lang="fr-FR">
              <a:solidFill>
                <a:prstClr val="black"/>
              </a:solidFill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9864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3" name="Shape 143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En ce qui concerne les langages ainsi que les outils</a:t>
            </a:r>
            <a:r>
              <a:rPr lang="fr-FR" baseline="0" dirty="0"/>
              <a:t> utilisés afin de réaliser notre  application on cite :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aseline="0" dirty="0"/>
              <a:t>Framework Laravel pour l’application web 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aseline="0" dirty="0"/>
              <a:t>Laragon 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serveur de développement web</a:t>
            </a:r>
            <a:endParaRPr lang="fr-FR" baseline="0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aseline="0" dirty="0"/>
              <a:t>Swagger pour la documentions des api 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aseline="0" dirty="0"/>
              <a:t>Postman les tester </a:t>
            </a:r>
            <a:endParaRPr lang="fr-FR" dirty="0"/>
          </a:p>
          <a:p>
            <a:r>
              <a:rPr lang="fr-FR" baseline="0" dirty="0"/>
              <a:t>Vs code éditeur de code</a:t>
            </a:r>
          </a:p>
          <a:p>
            <a:r>
              <a:rPr lang="fr-FR" baseline="0" dirty="0"/>
              <a:t>Le Framework React native pour le développement d’application mobile </a:t>
            </a:r>
          </a:p>
          <a:p>
            <a:pPr marL="0" marR="0" lvl="0" indent="0" algn="l" rtl="0">
              <a:spcBef>
                <a:spcPts val="0"/>
              </a:spcBef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fld id="{00000000-1234-1234-1234-123412341234}" type="slidenum">
              <a:rPr lang="fr-FR">
                <a:solidFill>
                  <a:prstClr val="black"/>
                </a:solidFill>
                <a:ea typeface="Calibri"/>
                <a:cs typeface="Calibri"/>
                <a:sym typeface="Calibri"/>
              </a:rPr>
              <a:pPr/>
              <a:t>8</a:t>
            </a:fld>
            <a:endParaRPr lang="fr-FR">
              <a:solidFill>
                <a:prstClr val="black"/>
              </a:solidFill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94453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3" name="Shape 143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r>
              <a:rPr lang="fr-FR" sz="1200" b="1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1.</a:t>
            </a:r>
            <a:r>
              <a:rPr lang="fr-FR" sz="1200" b="1" i="0" u="none" strike="noStrike" cap="none" baseline="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fr-FR" sz="1200" b="1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l'utilisateur envoie la requête</a:t>
            </a:r>
          </a:p>
          <a:p>
            <a:pPr marL="0" marR="0" lvl="0" indent="0" algn="l" rtl="0">
              <a:spcBef>
                <a:spcPts val="0"/>
              </a:spcBef>
              <a:buNone/>
            </a:pPr>
            <a:r>
              <a:rPr lang="fr-FR" sz="1200" b="1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2.</a:t>
            </a:r>
            <a:r>
              <a:rPr lang="fr-FR" sz="1200" b="1" i="0" u="none" strike="noStrike" cap="none" baseline="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Apres qu’il </a:t>
            </a:r>
            <a:r>
              <a:rPr lang="fr-FR" sz="1200" b="1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exécute un événement, le routeur redirige l'action à traiter par le contrôleur approprié. </a:t>
            </a:r>
          </a:p>
          <a:p>
            <a:pPr marL="0" marR="0" lvl="0" indent="0" algn="l" rtl="0">
              <a:spcBef>
                <a:spcPts val="0"/>
              </a:spcBef>
              <a:buNone/>
            </a:pPr>
            <a:r>
              <a:rPr lang="fr-FR" sz="1200" b="1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3.</a:t>
            </a:r>
            <a:r>
              <a:rPr lang="fr-FR" sz="1200" b="1" i="0" u="none" strike="noStrike" cap="none" baseline="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fr-FR" sz="1200" b="1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Une fois que l'action demandée par l'utilisateur a été gérée par le contrôleur approprié, le contrôleur</a:t>
            </a:r>
            <a:r>
              <a:rPr lang="fr-FR" sz="1200" b="1" i="0" u="none" strike="noStrike" cap="none" baseline="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fait une interaction avec </a:t>
            </a:r>
            <a:r>
              <a:rPr lang="fr-FR" sz="1200" b="1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le modèle pour </a:t>
            </a:r>
            <a:r>
              <a:rPr lang="fr-FR" sz="1200" b="1" i="0" u="none" strike="noStrike" cap="none" baseline="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fr-FR" sz="1200" b="1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mettre à jour la DB et renvoie les données de retour de l'action.   </a:t>
            </a:r>
          </a:p>
          <a:p>
            <a:pPr marL="0" marR="0" lvl="0" indent="0" algn="l" rtl="0">
              <a:spcBef>
                <a:spcPts val="0"/>
              </a:spcBef>
              <a:buNone/>
            </a:pPr>
            <a:r>
              <a:rPr lang="fr-FR" sz="1200" b="1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4.</a:t>
            </a:r>
            <a:r>
              <a:rPr lang="fr-FR" sz="1200" b="1" i="0" u="none" strike="noStrike" cap="none" baseline="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le contrôleur réalise </a:t>
            </a:r>
            <a:r>
              <a:rPr lang="fr-FR" sz="1200" b="1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une représentation des données de retour de la requête</a:t>
            </a:r>
            <a:r>
              <a:rPr lang="fr-FR" sz="1200" b="1" i="0" u="none" strike="noStrike" cap="none" baseline="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fr-FR" sz="1200" b="1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en cours </a:t>
            </a:r>
          </a:p>
          <a:p>
            <a:pPr marL="0" marR="0" lvl="0" indent="0" algn="l" rtl="0">
              <a:spcBef>
                <a:spcPts val="0"/>
              </a:spcBef>
              <a:buNone/>
            </a:pPr>
            <a:r>
              <a:rPr lang="fr-FR" sz="1200" b="1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5. pour les affichés représentés dans la vue ou l'interface utilisateur.</a:t>
            </a:r>
          </a:p>
          <a:p>
            <a:pPr marL="0" marR="0" lvl="0" indent="0" algn="l" rtl="0">
              <a:spcBef>
                <a:spcPts val="0"/>
              </a:spcBef>
              <a:buNone/>
            </a:pPr>
            <a:endParaRPr sz="1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fld id="{00000000-1234-1234-1234-123412341234}" type="slidenum">
              <a:rPr lang="fr-FR">
                <a:solidFill>
                  <a:prstClr val="black"/>
                </a:solidFill>
                <a:ea typeface="Calibri"/>
                <a:cs typeface="Calibri"/>
                <a:sym typeface="Calibri"/>
              </a:rPr>
              <a:pPr/>
              <a:t>9</a:t>
            </a:fld>
            <a:endParaRPr lang="fr-FR">
              <a:solidFill>
                <a:prstClr val="black"/>
              </a:solidFill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6595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2FAAFD-A1C4-5322-A1AD-7A49D04248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A00A476-2BB3-833F-4615-629D26520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6A6DE7-5F86-D9FC-BCC8-3B81BB599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825-E485-4240-91C4-47D6348B7947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335EF9-A7DB-1EC2-9D46-A262D2AB6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3526317-2471-6F7D-9A0D-2256CFD19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71CFB-C27B-49E5-A81D-804175F75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003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2249A3-6643-F510-6EE2-CF8930ADA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E81093-69C5-62EC-F23C-E18289800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AFDF75-6189-7594-AE8E-4C31AF5A0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825-E485-4240-91C4-47D6348B7947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3AAD02-2990-AB62-99D1-60BD1A8F7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1B5048B-D29C-ED39-5762-811FE850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71CFB-C27B-49E5-A81D-804175F75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4210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F5FB6B-04A6-694A-BEB2-1DA349C8C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F8CF14-9F87-01AD-6CD0-5502A943D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F07E56-5BC2-7BBD-D2E3-C1B34CD6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825-E485-4240-91C4-47D6348B7947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FB7040-5E03-FC0C-1A39-3719BAF81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7779D1-FD43-6935-636C-B081EB532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71CFB-C27B-49E5-A81D-804175F75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8773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84FEAD-150B-01E8-50C7-1666AC29F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480444-2990-2007-BC88-18B6BBD25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DE10853-8FCB-A9EE-54BB-824D635D1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DF92A1-4069-60CA-2688-7938CBFCF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825-E485-4240-91C4-47D6348B7947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E75247F-1231-295A-46A5-900E1C0EB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BC36988-57B3-F9D4-2539-F3805EE27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71CFB-C27B-49E5-A81D-804175F75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89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7D4780-EAED-A473-F3F8-AFFDEC9B4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7C15C0-08E7-C673-1CFB-5287B94F3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6E509D0-481D-B693-75E0-AB00DAED9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E2DD527-ACFD-DDEC-EEBC-3CED3F9CB2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1304A15-B6B0-C4EE-3BDE-90D995F7B0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1A2382D-302D-F181-EF51-2443DBFDA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825-E485-4240-91C4-47D6348B7947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7A6B110-0670-A887-D03A-EDD44359D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227663D-4BA2-DD38-43FD-F00F29010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71CFB-C27B-49E5-A81D-804175F75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6972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593315-96F2-7F09-4265-6E7F9FA5C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C3D301F-9A16-98BE-F63A-BA5ABD35C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825-E485-4240-91C4-47D6348B7947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DBDE478-AF4E-7CEC-CA9A-735AAC08E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2B44075-AB0A-ECFF-3262-FA82611A9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71CFB-C27B-49E5-A81D-804175F75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9248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41AA47A-444A-ADAF-E390-F9CA4FC02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825-E485-4240-91C4-47D6348B7947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9241AD1-218C-F592-859A-30A7E2328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5B24B66-20C2-840C-4B8A-3C66FA6B8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71CFB-C27B-49E5-A81D-804175F75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0904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4A59C7-3A71-E791-B52A-2A50AB05B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420522-2D96-3244-C817-33C3D4EA1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5EC33CC-7F9B-2FD7-B77E-D2B9567000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09F6FB3-C061-D373-42E0-1A1FB6570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825-E485-4240-91C4-47D6348B7947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9F5056-5F14-774A-6C22-F102D4FAE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F1DB6AC-1DD3-97D0-65B5-2D8B31CE5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71CFB-C27B-49E5-A81D-804175F75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2776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309A0D-217D-C0CB-494D-856B51BC5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3B75896-D7CC-6914-5B20-F1ECC11528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FD9BA55-ADCE-2E44-E7F8-923D112AE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13AE8E4-3F76-7FD2-96EE-4F803A127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825-E485-4240-91C4-47D6348B7947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55E1ABA-6AC7-769B-1536-E3A4E24EA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B4CA16D-DE8E-06F6-68C8-18B862433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71CFB-C27B-49E5-A81D-804175F75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5881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54C274-06A5-D52C-4BBE-6F90AAB8A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793CDBE-6D80-5784-51D5-6D5B3354B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FBA202-E35F-59D3-07E6-6FF693C7C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825-E485-4240-91C4-47D6348B7947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CD1353-6130-6D3B-0C4B-712BB695E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664844-141A-CABE-B065-805113D05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71CFB-C27B-49E5-A81D-804175F75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6182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B115646-D853-AD90-597B-4819FF1C8F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32FCC38-AF27-54C0-2F67-8442D8559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8503F7D-93FC-FB11-2048-1B69799FF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825-E485-4240-91C4-47D6348B7947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B19AC0-82C9-EDA9-1B6D-9500470DD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2B415F-031A-37D4-4851-E51268F5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71CFB-C27B-49E5-A81D-804175F75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4589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4607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>
  <p:cSld name="1_Image avec légend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4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SzPts val="1400"/>
              <a:buNone/>
              <a:defRPr sz="1800"/>
            </a:lvl2pPr>
            <a:lvl3pPr lvl="2" indent="0">
              <a:spcBef>
                <a:spcPts val="0"/>
              </a:spcBef>
              <a:buSzPts val="1400"/>
              <a:buNone/>
              <a:defRPr sz="1800"/>
            </a:lvl3pPr>
            <a:lvl4pPr lvl="3" indent="0">
              <a:spcBef>
                <a:spcPts val="0"/>
              </a:spcBef>
              <a:buSzPts val="1400"/>
              <a:buNone/>
              <a:defRPr sz="1800"/>
            </a:lvl4pPr>
            <a:lvl5pPr lvl="4" indent="0">
              <a:spcBef>
                <a:spcPts val="0"/>
              </a:spcBef>
              <a:buSzPts val="1400"/>
              <a:buNone/>
              <a:defRPr sz="1800"/>
            </a:lvl5pPr>
            <a:lvl6pPr lvl="5" indent="0">
              <a:spcBef>
                <a:spcPts val="0"/>
              </a:spcBef>
              <a:buSzPts val="1400"/>
              <a:buNone/>
              <a:defRPr sz="1800"/>
            </a:lvl6pPr>
            <a:lvl7pPr lvl="6" indent="0">
              <a:spcBef>
                <a:spcPts val="0"/>
              </a:spcBef>
              <a:buSzPts val="1400"/>
              <a:buNone/>
              <a:defRPr sz="1800"/>
            </a:lvl7pPr>
            <a:lvl8pPr lvl="7" indent="0">
              <a:spcBef>
                <a:spcPts val="0"/>
              </a:spcBef>
              <a:buSzPts val="1400"/>
              <a:buNone/>
              <a:defRPr sz="1800"/>
            </a:lvl8pPr>
            <a:lvl9pPr lvl="8" indent="0">
              <a:spcBef>
                <a:spcPts val="0"/>
              </a:spcBef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7" name="Shape 8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Shape 8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0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Shape 8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Shape 9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Shape 9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None/>
            </a:pPr>
            <a:fld id="{00000000-1234-1234-1234-123412341234}" type="slidenum">
              <a:rPr lang="fr-FR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buNone/>
              </a:pPr>
              <a:t>‹N°›</a:t>
            </a:fld>
            <a:endParaRPr lang="fr-FR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4773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4548832" y="1881832"/>
            <a:ext cx="3094337" cy="3094337"/>
          </a:xfrm>
          <a:custGeom>
            <a:avLst/>
            <a:gdLst>
              <a:gd name="connsiteX0" fmla="*/ 1547169 w 3094337"/>
              <a:gd name="connsiteY0" fmla="*/ 0 h 3094337"/>
              <a:gd name="connsiteX1" fmla="*/ 1662476 w 3094337"/>
              <a:gd name="connsiteY1" fmla="*/ 47762 h 3094337"/>
              <a:gd name="connsiteX2" fmla="*/ 3046576 w 3094337"/>
              <a:gd name="connsiteY2" fmla="*/ 1431863 h 3094337"/>
              <a:gd name="connsiteX3" fmla="*/ 3046576 w 3094337"/>
              <a:gd name="connsiteY3" fmla="*/ 1662476 h 3094337"/>
              <a:gd name="connsiteX4" fmla="*/ 1662476 w 3094337"/>
              <a:gd name="connsiteY4" fmla="*/ 3046576 h 3094337"/>
              <a:gd name="connsiteX5" fmla="*/ 1431863 w 3094337"/>
              <a:gd name="connsiteY5" fmla="*/ 3046576 h 3094337"/>
              <a:gd name="connsiteX6" fmla="*/ 47762 w 3094337"/>
              <a:gd name="connsiteY6" fmla="*/ 1662476 h 3094337"/>
              <a:gd name="connsiteX7" fmla="*/ 47762 w 3094337"/>
              <a:gd name="connsiteY7" fmla="*/ 1431863 h 3094337"/>
              <a:gd name="connsiteX8" fmla="*/ 1431863 w 3094337"/>
              <a:gd name="connsiteY8" fmla="*/ 47762 h 3094337"/>
              <a:gd name="connsiteX9" fmla="*/ 1547169 w 3094337"/>
              <a:gd name="connsiteY9" fmla="*/ 0 h 3094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094337" h="3094337">
                <a:moveTo>
                  <a:pt x="1547169" y="0"/>
                </a:moveTo>
                <a:cubicBezTo>
                  <a:pt x="1588902" y="0"/>
                  <a:pt x="1630635" y="15921"/>
                  <a:pt x="1662476" y="47762"/>
                </a:cubicBezTo>
                <a:lnTo>
                  <a:pt x="3046576" y="1431863"/>
                </a:lnTo>
                <a:cubicBezTo>
                  <a:pt x="3110258" y="1495545"/>
                  <a:pt x="3110258" y="1598794"/>
                  <a:pt x="3046576" y="1662476"/>
                </a:cubicBezTo>
                <a:lnTo>
                  <a:pt x="1662476" y="3046576"/>
                </a:lnTo>
                <a:cubicBezTo>
                  <a:pt x="1598794" y="3110258"/>
                  <a:pt x="1495545" y="3110258"/>
                  <a:pt x="1431863" y="3046576"/>
                </a:cubicBezTo>
                <a:lnTo>
                  <a:pt x="47762" y="1662476"/>
                </a:lnTo>
                <a:cubicBezTo>
                  <a:pt x="-15920" y="1598794"/>
                  <a:pt x="-15920" y="1495545"/>
                  <a:pt x="47762" y="1431863"/>
                </a:cubicBezTo>
                <a:lnTo>
                  <a:pt x="1431863" y="47762"/>
                </a:lnTo>
                <a:cubicBezTo>
                  <a:pt x="1463704" y="15921"/>
                  <a:pt x="1505437" y="0"/>
                  <a:pt x="1547169" y="0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21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F572684-7047-D853-9E6E-6EF5BA91B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B4F4CB2-FB1F-C2B2-28E8-A20870F4B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C35792-2AB5-6809-C383-56F66FEF93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E0C825-E485-4240-91C4-47D6348B7947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717351-2780-4F6E-809E-2A644616D3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E4B0D3-C815-D196-222F-A556022E9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A71CFB-C27B-49E5-A81D-804175F75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568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9">
            <a:extLst>
              <a:ext uri="{FF2B5EF4-FFF2-40B4-BE49-F238E27FC236}">
                <a16:creationId xmlns:a16="http://schemas.microsoft.com/office/drawing/2014/main" id="{0D504D7C-FBB3-43D7-B7D6-940865B57D95}"/>
              </a:ext>
            </a:extLst>
          </p:cNvPr>
          <p:cNvSpPr txBox="1"/>
          <p:nvPr/>
        </p:nvSpPr>
        <p:spPr>
          <a:xfrm>
            <a:off x="8760296" y="6453336"/>
            <a:ext cx="3619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ko-KR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Année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 </a:t>
            </a:r>
            <a:r>
              <a:rPr lang="fr-FR" altLang="ko-KR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universitaire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 2020/2021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1322" y="260648"/>
            <a:ext cx="2980678" cy="709686"/>
          </a:xfrm>
          <a:prstGeom prst="rect">
            <a:avLst/>
          </a:prstGeom>
        </p:spPr>
      </p:pic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FA84B42-CBD9-47EE-8DD3-404901F5590F}"/>
              </a:ext>
            </a:extLst>
          </p:cNvPr>
          <p:cNvSpPr txBox="1">
            <a:spLocks/>
          </p:cNvSpPr>
          <p:nvPr/>
        </p:nvSpPr>
        <p:spPr>
          <a:xfrm>
            <a:off x="-240704" y="4653136"/>
            <a:ext cx="3472942" cy="1080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fr-FR" altLang="ko-KR" sz="2000" b="1" dirty="0">
                <a:solidFill>
                  <a:srgbClr val="0060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Réalisé</a:t>
            </a:r>
            <a:r>
              <a:rPr lang="en-US" altLang="ko-KR" sz="2000" b="1" dirty="0">
                <a:solidFill>
                  <a:srgbClr val="0060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 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0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Asma Ladhari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9719" y="1790120"/>
            <a:ext cx="99125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3600" b="1" dirty="0">
                <a:solidFill>
                  <a:schemeClr val="tx2"/>
                </a:solidFill>
                <a:latin typeface="Lato Regular"/>
              </a:rPr>
              <a:t>Conception et développement </a:t>
            </a:r>
          </a:p>
          <a:p>
            <a:pPr algn="ctr"/>
            <a:r>
              <a:rPr lang="fr-FR" sz="3600" b="1" dirty="0">
                <a:solidFill>
                  <a:schemeClr val="tx2"/>
                </a:solidFill>
                <a:latin typeface="Lato Regular"/>
              </a:rPr>
              <a:t>d’une application d’affacturage </a:t>
            </a:r>
            <a:r>
              <a:rPr lang="fr-FR" sz="3600" b="1" dirty="0">
                <a:solidFill>
                  <a:schemeClr val="tx2"/>
                </a:solidFill>
                <a:latin typeface="Lato Regular"/>
                <a:sym typeface="Oswald"/>
              </a:rPr>
              <a:t>“ScanIT”</a:t>
            </a:r>
            <a:endParaRPr lang="fr-FR" sz="3600" b="1" dirty="0">
              <a:solidFill>
                <a:schemeClr val="tx2"/>
              </a:solidFill>
              <a:latin typeface="Lato Regular"/>
            </a:endParaRP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FFA84B42-CBD9-47EE-8DD3-404901F5590F}"/>
              </a:ext>
            </a:extLst>
          </p:cNvPr>
          <p:cNvSpPr txBox="1">
            <a:spLocks/>
          </p:cNvSpPr>
          <p:nvPr/>
        </p:nvSpPr>
        <p:spPr>
          <a:xfrm>
            <a:off x="4255519" y="5013176"/>
            <a:ext cx="3640681" cy="1080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fr-FR" altLang="ko-KR" sz="2000" b="1" dirty="0">
                <a:solidFill>
                  <a:srgbClr val="0060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Jury :</a:t>
            </a:r>
          </a:p>
          <a:p>
            <a:pPr>
              <a:lnSpc>
                <a:spcPct val="150000"/>
              </a:lnSpc>
              <a:defRPr/>
            </a:pPr>
            <a:r>
              <a:rPr lang="fr-FR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Roboto (Corps)"/>
                <a:ea typeface="Oswald"/>
                <a:cs typeface="Oswald"/>
              </a:rPr>
              <a:t>Mr. Mouhieddine Belguith</a:t>
            </a:r>
          </a:p>
          <a:p>
            <a:pPr>
              <a:lnSpc>
                <a:spcPct val="150000"/>
              </a:lnSpc>
              <a:defRPr/>
            </a:pPr>
            <a:r>
              <a:rPr lang="fr-FR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Roboto (Corps)"/>
                <a:ea typeface="Oswald"/>
                <a:cs typeface="Oswald"/>
              </a:rPr>
              <a:t>Mr. Khalil Kalboussi</a:t>
            </a:r>
            <a:endParaRPr lang="en-US" altLang="ko-KR" sz="2000" b="1" dirty="0">
              <a:solidFill>
                <a:schemeClr val="tx1">
                  <a:lumMod val="90000"/>
                  <a:lumOff val="10000"/>
                </a:schemeClr>
              </a:solidFill>
              <a:latin typeface="Roboto (Corps)"/>
              <a:ea typeface="Oswald"/>
              <a:cs typeface="Oswald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2000" b="1" dirty="0"/>
              <a:t>                </a:t>
            </a:r>
            <a:endParaRPr lang="en-US" altLang="ko-KR" sz="2000" b="1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FA84B42-CBD9-47EE-8DD3-404901F5590F}"/>
              </a:ext>
            </a:extLst>
          </p:cNvPr>
          <p:cNvSpPr txBox="1">
            <a:spLocks/>
          </p:cNvSpPr>
          <p:nvPr/>
        </p:nvSpPr>
        <p:spPr>
          <a:xfrm>
            <a:off x="7896200" y="5157192"/>
            <a:ext cx="4152741" cy="1080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b="1" dirty="0">
                <a:solidFill>
                  <a:srgbClr val="0060B8"/>
                </a:solidFill>
                <a:latin typeface="Arial" panose="020B0604020202020204" pitchFamily="34" charset="0"/>
                <a:ea typeface="Oswald"/>
                <a:cs typeface="Arial" panose="020B0604020202020204" pitchFamily="34" charset="0"/>
                <a:sym typeface="Oswald"/>
              </a:rPr>
              <a:t>Encadré par : </a:t>
            </a:r>
          </a:p>
          <a:p>
            <a:pPr lvl="0">
              <a:lnSpc>
                <a:spcPct val="150000"/>
              </a:lnSpc>
            </a:pPr>
            <a:r>
              <a:rPr lang="fr-FR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Roboto (Corps)"/>
                <a:ea typeface="Oswald"/>
                <a:cs typeface="Oswald"/>
                <a:sym typeface="Oswald"/>
              </a:rPr>
              <a:t>Mr. Montassar Ben Saad</a:t>
            </a:r>
          </a:p>
          <a:p>
            <a:pPr>
              <a:lnSpc>
                <a:spcPct val="150000"/>
              </a:lnSpc>
            </a:pPr>
            <a:r>
              <a:rPr lang="fr-FR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Roboto (Corps)"/>
                <a:ea typeface="Oswald"/>
                <a:cs typeface="Oswald"/>
                <a:sym typeface="Oswald"/>
              </a:rPr>
              <a:t>Mr. Mohamed Jomaa</a:t>
            </a:r>
            <a:endParaRPr lang="en-US" altLang="ko-KR" sz="2000" b="1" dirty="0">
              <a:solidFill>
                <a:schemeClr val="tx1">
                  <a:lumMod val="90000"/>
                  <a:lumOff val="10000"/>
                </a:schemeClr>
              </a:solidFill>
              <a:latin typeface="Roboto (Corps)"/>
            </a:endParaRPr>
          </a:p>
          <a:p>
            <a:pPr lvl="0"/>
            <a:r>
              <a:rPr lang="fr-FR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Roboto (Corps)"/>
                <a:ea typeface="Oswald"/>
                <a:cs typeface="Oswald"/>
                <a:sym typeface="Oswald"/>
              </a:rPr>
              <a:t> </a:t>
            </a:r>
          </a:p>
          <a:p>
            <a:endParaRPr lang="fr-FR" sz="2000" b="1" dirty="0">
              <a:solidFill>
                <a:srgbClr val="0060B8"/>
              </a:solidFill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928" y="3212976"/>
            <a:ext cx="1120402" cy="112040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108574" y="177376"/>
            <a:ext cx="53948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rgbClr val="BFBFBF"/>
                </a:solidFill>
                <a:latin typeface="Lato Regular"/>
              </a:rPr>
              <a:t>Projet de fin d’études pour l’obtention du diplôme national d’ingénieur 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35" y="204256"/>
            <a:ext cx="2304258" cy="822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021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22391410" cy="125951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391410" cy="12595168"/>
            </a:xfrm>
            <a:custGeom>
              <a:avLst/>
              <a:gdLst/>
              <a:ahLst/>
              <a:cxnLst/>
              <a:rect l="l" t="t" r="r" b="b"/>
              <a:pathLst>
                <a:path w="22391410" h="12595168">
                  <a:moveTo>
                    <a:pt x="0" y="0"/>
                  </a:moveTo>
                  <a:lnTo>
                    <a:pt x="0" y="12595168"/>
                  </a:lnTo>
                  <a:lnTo>
                    <a:pt x="22391410" y="12595168"/>
                  </a:lnTo>
                  <a:lnTo>
                    <a:pt x="22391410" y="0"/>
                  </a:lnTo>
                  <a:lnTo>
                    <a:pt x="0" y="0"/>
                  </a:lnTo>
                  <a:close/>
                  <a:moveTo>
                    <a:pt x="22330449" y="12534208"/>
                  </a:moveTo>
                  <a:lnTo>
                    <a:pt x="59690" y="12534208"/>
                  </a:lnTo>
                  <a:lnTo>
                    <a:pt x="59690" y="59690"/>
                  </a:lnTo>
                  <a:lnTo>
                    <a:pt x="22330449" y="59690"/>
                  </a:lnTo>
                  <a:lnTo>
                    <a:pt x="22330449" y="12534208"/>
                  </a:lnTo>
                  <a:close/>
                </a:path>
              </a:pathLst>
            </a:custGeom>
            <a:solidFill>
              <a:srgbClr val="3F63B6"/>
            </a:solidFill>
          </p:spPr>
          <p:txBody>
            <a:bodyPr/>
            <a:lstStyle/>
            <a:p>
              <a:endParaRPr lang="en-US" sz="933"/>
            </a:p>
          </p:txBody>
        </p:sp>
      </p:grpSp>
      <p:sp>
        <p:nvSpPr>
          <p:cNvPr id="8" name="Freeform 8"/>
          <p:cNvSpPr/>
          <p:nvPr/>
        </p:nvSpPr>
        <p:spPr>
          <a:xfrm>
            <a:off x="3657600" y="1289333"/>
            <a:ext cx="4876800" cy="1347771"/>
          </a:xfrm>
          <a:custGeom>
            <a:avLst/>
            <a:gdLst/>
            <a:ahLst/>
            <a:cxnLst/>
            <a:rect l="l" t="t" r="r" b="b"/>
            <a:pathLst>
              <a:path w="7315200" h="2021655">
                <a:moveTo>
                  <a:pt x="0" y="0"/>
                </a:moveTo>
                <a:lnTo>
                  <a:pt x="7315200" y="0"/>
                </a:lnTo>
                <a:lnTo>
                  <a:pt x="7315200" y="2021656"/>
                </a:lnTo>
                <a:lnTo>
                  <a:pt x="0" y="20216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933"/>
          </a:p>
        </p:txBody>
      </p:sp>
      <p:sp>
        <p:nvSpPr>
          <p:cNvPr id="10" name="TextBox 10"/>
          <p:cNvSpPr txBox="1"/>
          <p:nvPr/>
        </p:nvSpPr>
        <p:spPr>
          <a:xfrm>
            <a:off x="452483" y="5323813"/>
            <a:ext cx="3075187" cy="244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3"/>
              </a:lnSpc>
              <a:spcBef>
                <a:spcPct val="0"/>
              </a:spcBef>
            </a:pPr>
            <a:r>
              <a:rPr lang="fr-FR" sz="1533" b="1" dirty="0">
                <a:latin typeface="Fira Sans Medium"/>
                <a:ea typeface="Fira Sans Medium"/>
                <a:cs typeface="Fira Sans Medium"/>
                <a:sym typeface="Fira Sans Medium"/>
              </a:rPr>
              <a:t>Lacunes des méthodes manuelles</a:t>
            </a:r>
            <a:endParaRPr lang="en-US" sz="1533" b="1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678715" y="5353024"/>
            <a:ext cx="3190280" cy="244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3"/>
              </a:lnSpc>
              <a:spcBef>
                <a:spcPct val="0"/>
              </a:spcBef>
            </a:pPr>
            <a:r>
              <a:rPr lang="fr-FR" sz="1533" b="1" dirty="0">
                <a:latin typeface="Fira Sans Medium"/>
                <a:ea typeface="Fira Sans Medium"/>
                <a:cs typeface="Fira Sans Medium"/>
                <a:sym typeface="Fira Sans Medium"/>
              </a:rPr>
              <a:t>Absence de visibilité globale</a:t>
            </a:r>
            <a:endParaRPr lang="en-US" sz="1533" b="1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019634" y="5335667"/>
            <a:ext cx="2719884" cy="244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3"/>
              </a:lnSpc>
              <a:spcBef>
                <a:spcPct val="0"/>
              </a:spcBef>
            </a:pPr>
            <a:r>
              <a:rPr lang="fr-FR" sz="1533" b="1" dirty="0">
                <a:latin typeface="Fira Sans Medium"/>
                <a:ea typeface="Fira Sans Medium"/>
                <a:cs typeface="Fira Sans Medium"/>
                <a:sym typeface="Fira Sans Medium"/>
              </a:rPr>
              <a:t>Barrière financière</a:t>
            </a:r>
            <a:endParaRPr lang="en-US" sz="1533" b="1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763203" y="1652347"/>
            <a:ext cx="2848124" cy="4272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67"/>
              </a:lnSpc>
              <a:spcBef>
                <a:spcPct val="0"/>
              </a:spcBef>
            </a:pPr>
            <a:r>
              <a:rPr lang="en-US" sz="2667" b="1" dirty="0" err="1">
                <a:latin typeface="Fira Sans Medium"/>
                <a:ea typeface="Fira Sans Medium"/>
                <a:cs typeface="Fira Sans Medium"/>
                <a:sym typeface="Fira Sans Medium"/>
              </a:rPr>
              <a:t>Problematique</a:t>
            </a:r>
            <a:endParaRPr lang="en-US" sz="2667" b="1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" name="Google Shape;1559;p44">
            <a:extLst>
              <a:ext uri="{FF2B5EF4-FFF2-40B4-BE49-F238E27FC236}">
                <a16:creationId xmlns:a16="http://schemas.microsoft.com/office/drawing/2014/main" id="{69BD5CAB-CC6F-700F-EECC-90EE39E44965}"/>
              </a:ext>
            </a:extLst>
          </p:cNvPr>
          <p:cNvSpPr txBox="1"/>
          <p:nvPr/>
        </p:nvSpPr>
        <p:spPr>
          <a:xfrm flipH="1">
            <a:off x="255555" y="272500"/>
            <a:ext cx="3550727" cy="426800"/>
          </a:xfrm>
          <a:prstGeom prst="rect">
            <a:avLst/>
          </a:prstGeom>
          <a:solidFill>
            <a:srgbClr val="3B858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000" dirty="0">
                <a:solidFill>
                  <a:schemeClr val="accent6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Contexte Generale</a:t>
            </a:r>
            <a:endParaRPr sz="2000" dirty="0">
              <a:solidFill>
                <a:schemeClr val="accent6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9AE5ED-73E3-B32B-A403-9352F458B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877" y="3349696"/>
            <a:ext cx="2061116" cy="18818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29AD7E-89C4-0CA6-2B5E-20E05C3DE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2243" y="3124835"/>
            <a:ext cx="2061116" cy="20611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691BFF-C079-D753-1D5D-72C3914D14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4609" y="3270124"/>
            <a:ext cx="1805523" cy="18055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1" grpId="0"/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933F0-D42C-4F75-9BC7-90123986F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MVC Architecture. MVC (Model-View-Controller) is a… | by Sadika | Medium">
            <a:extLst>
              <a:ext uri="{FF2B5EF4-FFF2-40B4-BE49-F238E27FC236}">
                <a16:creationId xmlns:a16="http://schemas.microsoft.com/office/drawing/2014/main" id="{B6729538-32F2-5A90-300A-A58469592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542" y="337014"/>
            <a:ext cx="8180916" cy="6520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559;p44">
            <a:extLst>
              <a:ext uri="{FF2B5EF4-FFF2-40B4-BE49-F238E27FC236}">
                <a16:creationId xmlns:a16="http://schemas.microsoft.com/office/drawing/2014/main" id="{6F618D33-A51B-4AD2-1792-DC54F80C7740}"/>
              </a:ext>
            </a:extLst>
          </p:cNvPr>
          <p:cNvSpPr txBox="1"/>
          <p:nvPr/>
        </p:nvSpPr>
        <p:spPr>
          <a:xfrm flipH="1">
            <a:off x="-158117" y="1"/>
            <a:ext cx="5450303" cy="5403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dist="95250" dir="2760000" algn="bl" rotWithShape="0">
              <a:schemeClr val="lt2">
                <a:alpha val="4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000" dirty="0">
                <a:solidFill>
                  <a:schemeClr val="accent6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Architecture du Systeme</a:t>
            </a:r>
          </a:p>
        </p:txBody>
      </p:sp>
    </p:spTree>
    <p:extLst>
      <p:ext uri="{BB962C8B-B14F-4D97-AF65-F5344CB8AC3E}">
        <p14:creationId xmlns:p14="http://schemas.microsoft.com/office/powerpoint/2010/main" val="1103750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22391410" cy="125951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391410" cy="12595168"/>
            </a:xfrm>
            <a:custGeom>
              <a:avLst/>
              <a:gdLst/>
              <a:ahLst/>
              <a:cxnLst/>
              <a:rect l="l" t="t" r="r" b="b"/>
              <a:pathLst>
                <a:path w="22391410" h="12595168">
                  <a:moveTo>
                    <a:pt x="0" y="0"/>
                  </a:moveTo>
                  <a:lnTo>
                    <a:pt x="0" y="12595168"/>
                  </a:lnTo>
                  <a:lnTo>
                    <a:pt x="22391410" y="12595168"/>
                  </a:lnTo>
                  <a:lnTo>
                    <a:pt x="22391410" y="0"/>
                  </a:lnTo>
                  <a:lnTo>
                    <a:pt x="0" y="0"/>
                  </a:lnTo>
                  <a:close/>
                  <a:moveTo>
                    <a:pt x="22330449" y="12534208"/>
                  </a:moveTo>
                  <a:lnTo>
                    <a:pt x="59690" y="12534208"/>
                  </a:lnTo>
                  <a:lnTo>
                    <a:pt x="59690" y="59690"/>
                  </a:lnTo>
                  <a:lnTo>
                    <a:pt x="22330449" y="59690"/>
                  </a:lnTo>
                  <a:lnTo>
                    <a:pt x="22330449" y="12534208"/>
                  </a:lnTo>
                  <a:close/>
                </a:path>
              </a:pathLst>
            </a:custGeom>
            <a:solidFill>
              <a:srgbClr val="3F63B6"/>
            </a:solid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4" name="Freeform 4"/>
          <p:cNvSpPr/>
          <p:nvPr/>
        </p:nvSpPr>
        <p:spPr>
          <a:xfrm>
            <a:off x="233676" y="370840"/>
            <a:ext cx="515625" cy="343535"/>
          </a:xfrm>
          <a:custGeom>
            <a:avLst/>
            <a:gdLst/>
            <a:ahLst/>
            <a:cxnLst/>
            <a:rect l="l" t="t" r="r" b="b"/>
            <a:pathLst>
              <a:path w="773437" h="515302">
                <a:moveTo>
                  <a:pt x="0" y="0"/>
                </a:moveTo>
                <a:lnTo>
                  <a:pt x="773437" y="0"/>
                </a:lnTo>
                <a:lnTo>
                  <a:pt x="773437" y="515302"/>
                </a:lnTo>
                <a:lnTo>
                  <a:pt x="0" y="5153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5" name="TextBox 5"/>
          <p:cNvSpPr txBox="1"/>
          <p:nvPr/>
        </p:nvSpPr>
        <p:spPr>
          <a:xfrm>
            <a:off x="-341727" y="308258"/>
            <a:ext cx="3874699" cy="407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sz="2411" dirty="0">
                <a:solidFill>
                  <a:srgbClr val="1A2A6B"/>
                </a:solidFill>
                <a:latin typeface="Abril Fatface"/>
                <a:ea typeface="Abril Fatface"/>
                <a:cs typeface="Abril Fatface"/>
                <a:sym typeface="Abril Fatface"/>
              </a:rPr>
              <a:t>Conclusion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34000" y="2768600"/>
            <a:ext cx="5384800" cy="269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28611" indent="-228611">
              <a:lnSpc>
                <a:spcPts val="2313"/>
              </a:lnSpc>
              <a:buFont typeface="Wingdings" panose="05000000000000000000" pitchFamily="2" charset="2"/>
              <a:buChar char="q"/>
            </a:pPr>
            <a:r>
              <a:rPr lang="en-US" sz="1653" dirty="0">
                <a:solidFill>
                  <a:srgbClr val="000000"/>
                </a:solidFill>
                <a:latin typeface="Trocchi"/>
                <a:ea typeface="Trocchi"/>
                <a:cs typeface="Trocchi"/>
                <a:sym typeface="Trocchi"/>
              </a:rPr>
              <a:t>La </a:t>
            </a:r>
            <a:r>
              <a:rPr lang="en-US" sz="1653" dirty="0" err="1">
                <a:solidFill>
                  <a:srgbClr val="000000"/>
                </a:solidFill>
                <a:latin typeface="Trocchi"/>
                <a:ea typeface="Trocchi"/>
                <a:cs typeface="Trocchi"/>
                <a:sym typeface="Trocchi"/>
              </a:rPr>
              <a:t>plateforme</a:t>
            </a:r>
            <a:r>
              <a:rPr lang="en-US" sz="1653" dirty="0">
                <a:solidFill>
                  <a:srgbClr val="000000"/>
                </a:solidFill>
                <a:latin typeface="Trocchi"/>
                <a:ea typeface="Trocchi"/>
                <a:cs typeface="Trocchi"/>
                <a:sym typeface="Trocchi"/>
              </a:rPr>
              <a:t> </a:t>
            </a:r>
            <a:r>
              <a:rPr lang="en-US" sz="1653" dirty="0" err="1">
                <a:solidFill>
                  <a:srgbClr val="000000"/>
                </a:solidFill>
                <a:latin typeface="Trocchi"/>
                <a:ea typeface="Trocchi"/>
                <a:cs typeface="Trocchi"/>
                <a:sym typeface="Trocchi"/>
              </a:rPr>
              <a:t>est</a:t>
            </a:r>
            <a:r>
              <a:rPr lang="en-US" sz="1653" dirty="0">
                <a:solidFill>
                  <a:srgbClr val="000000"/>
                </a:solidFill>
                <a:latin typeface="Trocchi"/>
                <a:ea typeface="Trocchi"/>
                <a:cs typeface="Trocchi"/>
                <a:sym typeface="Trocchi"/>
              </a:rPr>
              <a:t> simple, </a:t>
            </a:r>
            <a:r>
              <a:rPr lang="en-US" sz="1653" dirty="0" err="1">
                <a:solidFill>
                  <a:srgbClr val="000000"/>
                </a:solidFill>
                <a:latin typeface="Trocchi"/>
                <a:ea typeface="Trocchi"/>
                <a:cs typeface="Trocchi"/>
                <a:sym typeface="Trocchi"/>
              </a:rPr>
              <a:t>moderne</a:t>
            </a:r>
            <a:r>
              <a:rPr lang="en-US" sz="1653" dirty="0">
                <a:solidFill>
                  <a:srgbClr val="000000"/>
                </a:solidFill>
                <a:latin typeface="Trocchi"/>
                <a:ea typeface="Trocchi"/>
                <a:cs typeface="Trocchi"/>
                <a:sym typeface="Trocchi"/>
              </a:rPr>
              <a:t> et </a:t>
            </a:r>
            <a:r>
              <a:rPr lang="en-US" sz="1653" dirty="0" err="1">
                <a:solidFill>
                  <a:srgbClr val="000000"/>
                </a:solidFill>
                <a:latin typeface="Trocchi"/>
                <a:ea typeface="Trocchi"/>
                <a:cs typeface="Trocchi"/>
                <a:sym typeface="Trocchi"/>
              </a:rPr>
              <a:t>efficace</a:t>
            </a:r>
            <a:endParaRPr lang="en-US" sz="1653" dirty="0">
              <a:solidFill>
                <a:srgbClr val="000000"/>
              </a:solidFill>
              <a:latin typeface="Trocchi"/>
              <a:ea typeface="Trocchi"/>
              <a:cs typeface="Trocchi"/>
              <a:sym typeface="Trocchi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334000" y="1481441"/>
            <a:ext cx="6764601" cy="257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28611" indent="-228611">
              <a:lnSpc>
                <a:spcPts val="2224"/>
              </a:lnSpc>
              <a:buFont typeface="Wingdings" panose="05000000000000000000" pitchFamily="2" charset="2"/>
              <a:buChar char="q"/>
            </a:pPr>
            <a:r>
              <a:rPr lang="en-US" sz="1589" dirty="0">
                <a:solidFill>
                  <a:srgbClr val="000000"/>
                </a:solidFill>
                <a:latin typeface="Trocchi"/>
                <a:ea typeface="Trocchi"/>
                <a:cs typeface="Trocchi"/>
                <a:sym typeface="Trocchi"/>
              </a:rPr>
              <a:t>Le </a:t>
            </a:r>
            <a:r>
              <a:rPr lang="en-US" sz="1589" dirty="0" err="1">
                <a:solidFill>
                  <a:srgbClr val="000000"/>
                </a:solidFill>
                <a:latin typeface="Trocchi"/>
                <a:ea typeface="Trocchi"/>
                <a:cs typeface="Trocchi"/>
                <a:sym typeface="Trocchi"/>
              </a:rPr>
              <a:t>projet</a:t>
            </a:r>
            <a:r>
              <a:rPr lang="en-US" sz="1589" dirty="0">
                <a:solidFill>
                  <a:srgbClr val="000000"/>
                </a:solidFill>
                <a:latin typeface="Trocchi"/>
                <a:ea typeface="Trocchi"/>
                <a:cs typeface="Trocchi"/>
                <a:sym typeface="Trocchi"/>
              </a:rPr>
              <a:t> a </a:t>
            </a:r>
            <a:r>
              <a:rPr lang="en-US" sz="1589" dirty="0" err="1">
                <a:solidFill>
                  <a:srgbClr val="000000"/>
                </a:solidFill>
                <a:latin typeface="Trocchi"/>
                <a:ea typeface="Trocchi"/>
                <a:cs typeface="Trocchi"/>
                <a:sym typeface="Trocchi"/>
              </a:rPr>
              <a:t>été</a:t>
            </a:r>
            <a:r>
              <a:rPr lang="en-US" sz="1589" dirty="0">
                <a:solidFill>
                  <a:srgbClr val="000000"/>
                </a:solidFill>
                <a:latin typeface="Trocchi"/>
                <a:ea typeface="Trocchi"/>
                <a:cs typeface="Trocchi"/>
                <a:sym typeface="Trocchi"/>
              </a:rPr>
              <a:t> </a:t>
            </a:r>
            <a:r>
              <a:rPr lang="en-US" sz="1589" dirty="0" err="1">
                <a:solidFill>
                  <a:srgbClr val="000000"/>
                </a:solidFill>
                <a:latin typeface="Trocchi"/>
                <a:ea typeface="Trocchi"/>
                <a:cs typeface="Trocchi"/>
                <a:sym typeface="Trocchi"/>
              </a:rPr>
              <a:t>réalisé</a:t>
            </a:r>
            <a:r>
              <a:rPr lang="en-US" sz="1589" dirty="0">
                <a:solidFill>
                  <a:srgbClr val="000000"/>
                </a:solidFill>
                <a:latin typeface="Trocchi"/>
                <a:ea typeface="Trocchi"/>
                <a:cs typeface="Trocchi"/>
                <a:sym typeface="Trocchi"/>
              </a:rPr>
              <a:t> avec succès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34001" y="4445000"/>
            <a:ext cx="7835407" cy="269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28611" indent="-228611">
              <a:lnSpc>
                <a:spcPts val="2313"/>
              </a:lnSpc>
              <a:buFont typeface="Wingdings" panose="05000000000000000000" pitchFamily="2" charset="2"/>
              <a:buChar char="q"/>
            </a:pPr>
            <a:r>
              <a:rPr lang="en-US" sz="1653" dirty="0" err="1">
                <a:solidFill>
                  <a:srgbClr val="000000"/>
                </a:solidFill>
                <a:latin typeface="Trocchi"/>
                <a:ea typeface="Trocchi"/>
                <a:cs typeface="Trocchi"/>
                <a:sym typeface="Trocchi"/>
              </a:rPr>
              <a:t>OptimCV</a:t>
            </a:r>
            <a:r>
              <a:rPr lang="en-US" sz="1653" dirty="0">
                <a:solidFill>
                  <a:srgbClr val="000000"/>
                </a:solidFill>
                <a:latin typeface="Trocchi"/>
                <a:ea typeface="Trocchi"/>
                <a:cs typeface="Trocchi"/>
                <a:sym typeface="Trocchi"/>
              </a:rPr>
              <a:t> </a:t>
            </a:r>
            <a:r>
              <a:rPr lang="en-US" sz="1653" dirty="0" err="1">
                <a:solidFill>
                  <a:srgbClr val="000000"/>
                </a:solidFill>
                <a:latin typeface="Trocchi"/>
                <a:ea typeface="Trocchi"/>
                <a:cs typeface="Trocchi"/>
                <a:sym typeface="Trocchi"/>
              </a:rPr>
              <a:t>facilite</a:t>
            </a:r>
            <a:r>
              <a:rPr lang="en-US" sz="1653" dirty="0">
                <a:solidFill>
                  <a:srgbClr val="000000"/>
                </a:solidFill>
                <a:latin typeface="Trocchi"/>
                <a:ea typeface="Trocchi"/>
                <a:cs typeface="Trocchi"/>
                <a:sym typeface="Trocchi"/>
              </a:rPr>
              <a:t> la recherche </a:t>
            </a:r>
            <a:r>
              <a:rPr lang="en-US" sz="1653" dirty="0" err="1">
                <a:solidFill>
                  <a:srgbClr val="000000"/>
                </a:solidFill>
                <a:latin typeface="Trocchi"/>
                <a:ea typeface="Trocchi"/>
                <a:cs typeface="Trocchi"/>
                <a:sym typeface="Trocchi"/>
              </a:rPr>
              <a:t>d’emploi</a:t>
            </a:r>
            <a:endParaRPr lang="en-US" sz="1653" dirty="0">
              <a:solidFill>
                <a:srgbClr val="000000"/>
              </a:solidFill>
              <a:latin typeface="Trocchi"/>
              <a:ea typeface="Trocchi"/>
              <a:cs typeface="Trocchi"/>
              <a:sym typeface="Trocchi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459218" y="6140450"/>
            <a:ext cx="195566" cy="226857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867"/>
              </a:lnSpc>
              <a:spcBef>
                <a:spcPct val="0"/>
              </a:spcBef>
            </a:pPr>
            <a:r>
              <a:rPr lang="en-US" sz="133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30</a:t>
            </a:r>
          </a:p>
        </p:txBody>
      </p:sp>
      <p:pic>
        <p:nvPicPr>
          <p:cNvPr id="16" name="Image 15" descr="Une image contenant clipart, capture d’écran, Graphique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111DD379-56D3-4D36-217B-1EF654BE15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59" y="1648111"/>
            <a:ext cx="3251654" cy="32516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Espace réservé du numéro de diapositive 3"/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dirty="0">
                <a:solidFill>
                  <a:srgbClr val="888888"/>
                </a:solidFill>
                <a:latin typeface="Roboto (Corps)"/>
                <a:ea typeface="Calibri"/>
                <a:cs typeface="Calibri"/>
                <a:sym typeface="Calibri"/>
              </a:rPr>
              <a:t>8</a:t>
            </a:r>
            <a:endParaRPr lang="fr-FR" sz="1200" dirty="0">
              <a:solidFill>
                <a:srgbClr val="888888"/>
              </a:solidFill>
              <a:latin typeface="Roboto (Corps)"/>
              <a:ea typeface="Calibri"/>
              <a:cs typeface="Calibri"/>
              <a:sym typeface="Calibri"/>
            </a:endParaRPr>
          </a:p>
        </p:txBody>
      </p:sp>
      <p:pic>
        <p:nvPicPr>
          <p:cNvPr id="44" name="Espace réservé pour une image 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1863" y="1641938"/>
            <a:ext cx="3094337" cy="3094337"/>
          </a:xfrm>
          <a:custGeom>
            <a:avLst/>
            <a:gdLst>
              <a:gd name="connsiteX0" fmla="*/ 1547169 w 3094337"/>
              <a:gd name="connsiteY0" fmla="*/ 0 h 3094337"/>
              <a:gd name="connsiteX1" fmla="*/ 1662476 w 3094337"/>
              <a:gd name="connsiteY1" fmla="*/ 47762 h 3094337"/>
              <a:gd name="connsiteX2" fmla="*/ 3046576 w 3094337"/>
              <a:gd name="connsiteY2" fmla="*/ 1431863 h 3094337"/>
              <a:gd name="connsiteX3" fmla="*/ 3046576 w 3094337"/>
              <a:gd name="connsiteY3" fmla="*/ 1662476 h 3094337"/>
              <a:gd name="connsiteX4" fmla="*/ 1662476 w 3094337"/>
              <a:gd name="connsiteY4" fmla="*/ 3046576 h 3094337"/>
              <a:gd name="connsiteX5" fmla="*/ 1431863 w 3094337"/>
              <a:gd name="connsiteY5" fmla="*/ 3046576 h 3094337"/>
              <a:gd name="connsiteX6" fmla="*/ 47762 w 3094337"/>
              <a:gd name="connsiteY6" fmla="*/ 1662476 h 3094337"/>
              <a:gd name="connsiteX7" fmla="*/ 47762 w 3094337"/>
              <a:gd name="connsiteY7" fmla="*/ 1431863 h 3094337"/>
              <a:gd name="connsiteX8" fmla="*/ 1431863 w 3094337"/>
              <a:gd name="connsiteY8" fmla="*/ 47762 h 3094337"/>
              <a:gd name="connsiteX9" fmla="*/ 1547169 w 3094337"/>
              <a:gd name="connsiteY9" fmla="*/ 0 h 3094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094337" h="3094337">
                <a:moveTo>
                  <a:pt x="1547169" y="0"/>
                </a:moveTo>
                <a:cubicBezTo>
                  <a:pt x="1588902" y="0"/>
                  <a:pt x="1630635" y="15921"/>
                  <a:pt x="1662476" y="47762"/>
                </a:cubicBezTo>
                <a:lnTo>
                  <a:pt x="3046576" y="1431863"/>
                </a:lnTo>
                <a:cubicBezTo>
                  <a:pt x="3110258" y="1495545"/>
                  <a:pt x="3110258" y="1598794"/>
                  <a:pt x="3046576" y="1662476"/>
                </a:cubicBezTo>
                <a:lnTo>
                  <a:pt x="1662476" y="3046576"/>
                </a:lnTo>
                <a:cubicBezTo>
                  <a:pt x="1598794" y="3110258"/>
                  <a:pt x="1495545" y="3110258"/>
                  <a:pt x="1431863" y="3046576"/>
                </a:cubicBezTo>
                <a:lnTo>
                  <a:pt x="47762" y="1662476"/>
                </a:lnTo>
                <a:cubicBezTo>
                  <a:pt x="-15920" y="1598794"/>
                  <a:pt x="-15920" y="1495545"/>
                  <a:pt x="47762" y="1431863"/>
                </a:cubicBezTo>
                <a:lnTo>
                  <a:pt x="1431863" y="47762"/>
                </a:lnTo>
                <a:cubicBezTo>
                  <a:pt x="1463704" y="15921"/>
                  <a:pt x="1505437" y="0"/>
                  <a:pt x="1547169" y="0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</p:pic>
      <p:pic>
        <p:nvPicPr>
          <p:cNvPr id="45" name="Espace réservé pour une image 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402263" y="1630807"/>
            <a:ext cx="3094337" cy="3094337"/>
          </a:xfrm>
          <a:custGeom>
            <a:avLst/>
            <a:gdLst>
              <a:gd name="connsiteX0" fmla="*/ 1547169 w 3094337"/>
              <a:gd name="connsiteY0" fmla="*/ 0 h 3094337"/>
              <a:gd name="connsiteX1" fmla="*/ 1662476 w 3094337"/>
              <a:gd name="connsiteY1" fmla="*/ 47762 h 3094337"/>
              <a:gd name="connsiteX2" fmla="*/ 3046576 w 3094337"/>
              <a:gd name="connsiteY2" fmla="*/ 1431863 h 3094337"/>
              <a:gd name="connsiteX3" fmla="*/ 3046576 w 3094337"/>
              <a:gd name="connsiteY3" fmla="*/ 1662476 h 3094337"/>
              <a:gd name="connsiteX4" fmla="*/ 1662476 w 3094337"/>
              <a:gd name="connsiteY4" fmla="*/ 3046576 h 3094337"/>
              <a:gd name="connsiteX5" fmla="*/ 1431863 w 3094337"/>
              <a:gd name="connsiteY5" fmla="*/ 3046576 h 3094337"/>
              <a:gd name="connsiteX6" fmla="*/ 47762 w 3094337"/>
              <a:gd name="connsiteY6" fmla="*/ 1662476 h 3094337"/>
              <a:gd name="connsiteX7" fmla="*/ 47762 w 3094337"/>
              <a:gd name="connsiteY7" fmla="*/ 1431863 h 3094337"/>
              <a:gd name="connsiteX8" fmla="*/ 1431863 w 3094337"/>
              <a:gd name="connsiteY8" fmla="*/ 47762 h 3094337"/>
              <a:gd name="connsiteX9" fmla="*/ 1547169 w 3094337"/>
              <a:gd name="connsiteY9" fmla="*/ 0 h 3094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094337" h="3094337">
                <a:moveTo>
                  <a:pt x="1547169" y="0"/>
                </a:moveTo>
                <a:cubicBezTo>
                  <a:pt x="1588902" y="0"/>
                  <a:pt x="1630635" y="15921"/>
                  <a:pt x="1662476" y="47762"/>
                </a:cubicBezTo>
                <a:lnTo>
                  <a:pt x="3046576" y="1431863"/>
                </a:lnTo>
                <a:cubicBezTo>
                  <a:pt x="3110258" y="1495545"/>
                  <a:pt x="3110258" y="1598794"/>
                  <a:pt x="3046576" y="1662476"/>
                </a:cubicBezTo>
                <a:lnTo>
                  <a:pt x="1662476" y="3046576"/>
                </a:lnTo>
                <a:cubicBezTo>
                  <a:pt x="1598794" y="3110258"/>
                  <a:pt x="1495545" y="3110258"/>
                  <a:pt x="1431863" y="3046576"/>
                </a:cubicBezTo>
                <a:lnTo>
                  <a:pt x="47762" y="1662476"/>
                </a:lnTo>
                <a:cubicBezTo>
                  <a:pt x="-15920" y="1598794"/>
                  <a:pt x="-15920" y="1495545"/>
                  <a:pt x="47762" y="1431863"/>
                </a:cubicBezTo>
                <a:lnTo>
                  <a:pt x="1431863" y="47762"/>
                </a:lnTo>
                <a:cubicBezTo>
                  <a:pt x="1463704" y="15921"/>
                  <a:pt x="1505437" y="0"/>
                  <a:pt x="1547169" y="0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</p:pic>
      <p:sp>
        <p:nvSpPr>
          <p:cNvPr id="46" name="CuadroTexto 4">
            <a:extLst>
              <a:ext uri="{FF2B5EF4-FFF2-40B4-BE49-F238E27FC236}">
                <a16:creationId xmlns:a16="http://schemas.microsoft.com/office/drawing/2014/main" id="{750F98AA-B7DF-BF40-B1E0-6504D5F29EEE}"/>
              </a:ext>
            </a:extLst>
          </p:cNvPr>
          <p:cNvSpPr txBox="1"/>
          <p:nvPr/>
        </p:nvSpPr>
        <p:spPr>
          <a:xfrm>
            <a:off x="8688288" y="1146230"/>
            <a:ext cx="2721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prstClr val="black"/>
                </a:solidFill>
                <a:latin typeface="+mj-lt"/>
                <a:ea typeface="Lato Light" charset="0"/>
                <a:cs typeface="Lato Light" charset="0"/>
              </a:rPr>
              <a:t>BBVA Factoring</a:t>
            </a:r>
            <a:endParaRPr kumimoji="0" lang="fr-FR" sz="1600" b="1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Lato Light" charset="0"/>
              <a:cs typeface="Lato Light" charset="0"/>
            </a:endParaRPr>
          </a:p>
        </p:txBody>
      </p:sp>
      <p:sp>
        <p:nvSpPr>
          <p:cNvPr id="49" name="CuadroTexto 4">
            <a:extLst>
              <a:ext uri="{FF2B5EF4-FFF2-40B4-BE49-F238E27FC236}">
                <a16:creationId xmlns:a16="http://schemas.microsoft.com/office/drawing/2014/main" id="{750F98AA-B7DF-BF40-B1E0-6504D5F29EEE}"/>
              </a:ext>
            </a:extLst>
          </p:cNvPr>
          <p:cNvSpPr txBox="1"/>
          <p:nvPr/>
        </p:nvSpPr>
        <p:spPr>
          <a:xfrm>
            <a:off x="1213930" y="1196752"/>
            <a:ext cx="2721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prstClr val="black"/>
                </a:solidFill>
                <a:latin typeface="+mj-lt"/>
                <a:ea typeface="Lato Light" charset="0"/>
                <a:cs typeface="Lato Light" charset="0"/>
              </a:rPr>
              <a:t>NextBooks</a:t>
            </a:r>
            <a:endParaRPr kumimoji="0" lang="fr-FR" sz="1600" b="1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Lato Light" charset="0"/>
              <a:cs typeface="Lato Light" charset="0"/>
            </a:endParaRPr>
          </a:p>
        </p:txBody>
      </p:sp>
      <p:sp>
        <p:nvSpPr>
          <p:cNvPr id="50" name="CuadroTexto 4">
            <a:extLst>
              <a:ext uri="{FF2B5EF4-FFF2-40B4-BE49-F238E27FC236}">
                <a16:creationId xmlns:a16="http://schemas.microsoft.com/office/drawing/2014/main" id="{750F98AA-B7DF-BF40-B1E0-6504D5F29EEE}"/>
              </a:ext>
            </a:extLst>
          </p:cNvPr>
          <p:cNvSpPr txBox="1"/>
          <p:nvPr/>
        </p:nvSpPr>
        <p:spPr>
          <a:xfrm>
            <a:off x="5030354" y="1196752"/>
            <a:ext cx="2721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prstClr val="black"/>
                </a:solidFill>
                <a:latin typeface="+mj-lt"/>
                <a:ea typeface="Lato Light" charset="0"/>
                <a:cs typeface="Lato Light" charset="0"/>
              </a:rPr>
              <a:t>Invoice2go</a:t>
            </a:r>
            <a:endParaRPr kumimoji="0" lang="fr-FR" sz="1600" b="1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Lato Light" charset="0"/>
              <a:cs typeface="Lato Light" charset="0"/>
            </a:endParaRPr>
          </a:p>
        </p:txBody>
      </p:sp>
      <p:sp>
        <p:nvSpPr>
          <p:cNvPr id="51" name="CuadroTexto 4">
            <a:extLst>
              <a:ext uri="{FF2B5EF4-FFF2-40B4-BE49-F238E27FC236}">
                <a16:creationId xmlns:a16="http://schemas.microsoft.com/office/drawing/2014/main" id="{750F98AA-B7DF-BF40-B1E0-6504D5F29EEE}"/>
              </a:ext>
            </a:extLst>
          </p:cNvPr>
          <p:cNvSpPr txBox="1"/>
          <p:nvPr/>
        </p:nvSpPr>
        <p:spPr>
          <a:xfrm>
            <a:off x="1006700" y="5050265"/>
            <a:ext cx="3289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600" b="1" dirty="0">
                <a:solidFill>
                  <a:prstClr val="black"/>
                </a:solidFill>
                <a:latin typeface="+mj-lt"/>
                <a:ea typeface="Lato Light" charset="0"/>
                <a:cs typeface="Lato Light" charset="0"/>
              </a:rPr>
              <a:t>Payante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1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Lato Light" charset="0"/>
              <a:cs typeface="Lato Light" charset="0"/>
            </a:endParaRPr>
          </a:p>
        </p:txBody>
      </p:sp>
      <p:sp>
        <p:nvSpPr>
          <p:cNvPr id="13" name="Shape 182"/>
          <p:cNvSpPr txBox="1"/>
          <p:nvPr/>
        </p:nvSpPr>
        <p:spPr>
          <a:xfrm>
            <a:off x="407368" y="191986"/>
            <a:ext cx="9055231" cy="76367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/>
          <a:p>
            <a:pPr>
              <a:buClr>
                <a:srgbClr val="FFC000"/>
              </a:buClr>
            </a:pPr>
            <a:r>
              <a:rPr lang="fr-FR" sz="4800" dirty="0">
                <a:solidFill>
                  <a:srgbClr val="0060B8"/>
                </a:solidFill>
                <a:latin typeface="Lato Regular" panose="020F0502020204030203" pitchFamily="34" charset="0"/>
              </a:rPr>
              <a:t>Etude de l’existant: </a:t>
            </a:r>
            <a:endParaRPr lang="fr-FR" sz="4800" b="1" dirty="0">
              <a:solidFill>
                <a:srgbClr val="0060B8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" name="CuadroTexto 4">
            <a:extLst>
              <a:ext uri="{FF2B5EF4-FFF2-40B4-BE49-F238E27FC236}">
                <a16:creationId xmlns:a16="http://schemas.microsoft.com/office/drawing/2014/main" id="{750F98AA-B7DF-BF40-B1E0-6504D5F29EEE}"/>
              </a:ext>
            </a:extLst>
          </p:cNvPr>
          <p:cNvSpPr txBox="1"/>
          <p:nvPr/>
        </p:nvSpPr>
        <p:spPr>
          <a:xfrm>
            <a:off x="1006700" y="5373216"/>
            <a:ext cx="3289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600" b="1" dirty="0">
                <a:solidFill>
                  <a:prstClr val="black"/>
                </a:solidFill>
                <a:latin typeface="+mj-lt"/>
                <a:ea typeface="Lato Light" charset="0"/>
                <a:cs typeface="Lato Light" charset="0"/>
              </a:rPr>
              <a:t>Gestion facture classique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1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Lato Light" charset="0"/>
              <a:cs typeface="Lato Light" charset="0"/>
            </a:endParaRPr>
          </a:p>
        </p:txBody>
      </p:sp>
      <p:sp>
        <p:nvSpPr>
          <p:cNvPr id="15" name="CuadroTexto 4">
            <a:extLst>
              <a:ext uri="{FF2B5EF4-FFF2-40B4-BE49-F238E27FC236}">
                <a16:creationId xmlns:a16="http://schemas.microsoft.com/office/drawing/2014/main" id="{750F98AA-B7DF-BF40-B1E0-6504D5F29EEE}"/>
              </a:ext>
            </a:extLst>
          </p:cNvPr>
          <p:cNvSpPr txBox="1"/>
          <p:nvPr/>
        </p:nvSpPr>
        <p:spPr>
          <a:xfrm>
            <a:off x="4655840" y="5041554"/>
            <a:ext cx="3289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600" b="1" dirty="0">
                <a:solidFill>
                  <a:prstClr val="black"/>
                </a:solidFill>
                <a:latin typeface="+mj-lt"/>
                <a:ea typeface="Lato Light" charset="0"/>
                <a:cs typeface="Lato Light" charset="0"/>
              </a:rPr>
              <a:t>Payante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1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Lato Light" charset="0"/>
              <a:cs typeface="Lato Light" charset="0"/>
            </a:endParaRPr>
          </a:p>
        </p:txBody>
      </p:sp>
      <p:sp>
        <p:nvSpPr>
          <p:cNvPr id="16" name="CuadroTexto 4">
            <a:extLst>
              <a:ext uri="{FF2B5EF4-FFF2-40B4-BE49-F238E27FC236}">
                <a16:creationId xmlns:a16="http://schemas.microsoft.com/office/drawing/2014/main" id="{750F98AA-B7DF-BF40-B1E0-6504D5F29EEE}"/>
              </a:ext>
            </a:extLst>
          </p:cNvPr>
          <p:cNvSpPr txBox="1"/>
          <p:nvPr/>
        </p:nvSpPr>
        <p:spPr>
          <a:xfrm>
            <a:off x="4655840" y="5364505"/>
            <a:ext cx="3289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600" b="1" dirty="0">
                <a:solidFill>
                  <a:prstClr val="black"/>
                </a:solidFill>
                <a:latin typeface="+mj-lt"/>
                <a:ea typeface="Lato Light" charset="0"/>
                <a:cs typeface="Lato Light" charset="0"/>
              </a:rPr>
              <a:t>Gestion facture et produits 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1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Lato Light" charset="0"/>
              <a:cs typeface="Lato Light" charset="0"/>
            </a:endParaRPr>
          </a:p>
        </p:txBody>
      </p:sp>
      <p:sp>
        <p:nvSpPr>
          <p:cNvPr id="17" name="CuadroTexto 4">
            <a:extLst>
              <a:ext uri="{FF2B5EF4-FFF2-40B4-BE49-F238E27FC236}">
                <a16:creationId xmlns:a16="http://schemas.microsoft.com/office/drawing/2014/main" id="{750F98AA-B7DF-BF40-B1E0-6504D5F29EEE}"/>
              </a:ext>
            </a:extLst>
          </p:cNvPr>
          <p:cNvSpPr txBox="1"/>
          <p:nvPr/>
        </p:nvSpPr>
        <p:spPr>
          <a:xfrm>
            <a:off x="8855572" y="5013176"/>
            <a:ext cx="3289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600" b="1" dirty="0">
                <a:solidFill>
                  <a:prstClr val="black"/>
                </a:solidFill>
                <a:latin typeface="+mj-lt"/>
                <a:ea typeface="Lato Light" charset="0"/>
                <a:cs typeface="Lato Light" charset="0"/>
              </a:rPr>
              <a:t>Gratuite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1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Lato Light" charset="0"/>
              <a:cs typeface="Lato Light" charset="0"/>
            </a:endParaRPr>
          </a:p>
        </p:txBody>
      </p:sp>
      <p:sp>
        <p:nvSpPr>
          <p:cNvPr id="18" name="CuadroTexto 4">
            <a:extLst>
              <a:ext uri="{FF2B5EF4-FFF2-40B4-BE49-F238E27FC236}">
                <a16:creationId xmlns:a16="http://schemas.microsoft.com/office/drawing/2014/main" id="{750F98AA-B7DF-BF40-B1E0-6504D5F29EEE}"/>
              </a:ext>
            </a:extLst>
          </p:cNvPr>
          <p:cNvSpPr txBox="1"/>
          <p:nvPr/>
        </p:nvSpPr>
        <p:spPr>
          <a:xfrm>
            <a:off x="8855572" y="5364505"/>
            <a:ext cx="3289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600" b="1" dirty="0">
                <a:solidFill>
                  <a:prstClr val="black"/>
                </a:solidFill>
                <a:latin typeface="+mj-lt"/>
                <a:ea typeface="Lato Light" charset="0"/>
                <a:cs typeface="Lato Light" charset="0"/>
              </a:rPr>
              <a:t>Gestion facture et chèque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1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Lato Light" charset="0"/>
              <a:cs typeface="Lato Light" charset="0"/>
            </a:endParaRPr>
          </a:p>
        </p:txBody>
      </p:sp>
      <p:pic>
        <p:nvPicPr>
          <p:cNvPr id="7" name="Espace réservé pour une image  6"/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14438" y="1641475"/>
            <a:ext cx="3094037" cy="3094038"/>
          </a:xfrm>
        </p:spPr>
      </p:pic>
    </p:spTree>
    <p:extLst>
      <p:ext uri="{BB962C8B-B14F-4D97-AF65-F5344CB8AC3E}">
        <p14:creationId xmlns:p14="http://schemas.microsoft.com/office/powerpoint/2010/main" val="222877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9" grpId="0"/>
      <p:bldP spid="50" grpId="0"/>
      <p:bldP spid="51" grpId="0"/>
      <p:bldP spid="14" grpId="0"/>
      <p:bldP spid="15" grpId="0"/>
      <p:bldP spid="16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/>
          <p:cNvSpPr>
            <a:spLocks noGrp="1"/>
          </p:cNvSpPr>
          <p:nvPr>
            <p:ph type="sldNum" idx="12"/>
          </p:nvPr>
        </p:nvSpPr>
        <p:spPr>
          <a:xfrm>
            <a:off x="9041432" y="6348729"/>
            <a:ext cx="2743200" cy="365125"/>
          </a:xfrm>
        </p:spPr>
        <p:txBody>
          <a:bodyPr/>
          <a:lstStyle/>
          <a:p>
            <a:pPr marL="0" marR="0" lvl="0" indent="0" algn="r" rtl="0">
              <a:spcBef>
                <a:spcPts val="0"/>
              </a:spcBef>
              <a:buNone/>
            </a:pPr>
            <a:fld id="{00000000-1234-1234-1234-123412341234}" type="slidenum">
              <a:rPr lang="fr-FR" smtClean="0">
                <a:solidFill>
                  <a:srgbClr val="888888"/>
                </a:solidFill>
                <a:latin typeface="Roboto (Corps)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buNone/>
              </a:pPr>
              <a:t>6</a:t>
            </a:fld>
            <a:endParaRPr lang="fr-FR" sz="1200" dirty="0">
              <a:solidFill>
                <a:srgbClr val="888888"/>
              </a:solidFill>
              <a:latin typeface="Roboto (Corps)"/>
              <a:ea typeface="Calibri"/>
              <a:cs typeface="Calibri"/>
              <a:sym typeface="Calibri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422" y="816656"/>
            <a:ext cx="2419350" cy="2876550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158" y="4365104"/>
            <a:ext cx="2419350" cy="2876550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878" y="980728"/>
            <a:ext cx="2419350" cy="2876550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454" y="120402"/>
            <a:ext cx="2667000" cy="2876550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142" y="764704"/>
            <a:ext cx="2667000" cy="2876550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734" y="3288754"/>
            <a:ext cx="3276600" cy="2876550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6894" y="3287265"/>
            <a:ext cx="3276600" cy="2876550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1430" y="3429000"/>
            <a:ext cx="2667000" cy="2876550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358" y="3284984"/>
            <a:ext cx="2667000" cy="2876550"/>
          </a:xfrm>
          <a:prstGeom prst="rect">
            <a:avLst/>
          </a:prstGeom>
        </p:spPr>
      </p:pic>
      <p:sp>
        <p:nvSpPr>
          <p:cNvPr id="13" name="Shape 182"/>
          <p:cNvSpPr txBox="1"/>
          <p:nvPr/>
        </p:nvSpPr>
        <p:spPr>
          <a:xfrm>
            <a:off x="407368" y="191986"/>
            <a:ext cx="9055231" cy="76367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/>
          <a:p>
            <a:pPr>
              <a:buClr>
                <a:srgbClr val="FFC000"/>
              </a:buClr>
            </a:pPr>
            <a:r>
              <a:rPr lang="fr-FR" sz="4800" dirty="0">
                <a:solidFill>
                  <a:srgbClr val="0060B8"/>
                </a:solidFill>
                <a:latin typeface="Lato Regular" panose="020F0502020204030203" pitchFamily="34" charset="0"/>
              </a:rPr>
              <a:t>Introduction: </a:t>
            </a:r>
            <a:endParaRPr lang="fr-FR" sz="4800" b="1" dirty="0">
              <a:solidFill>
                <a:srgbClr val="0060B8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  <p:extLst>
      <p:ext uri="{BB962C8B-B14F-4D97-AF65-F5344CB8AC3E}">
        <p14:creationId xmlns:p14="http://schemas.microsoft.com/office/powerpoint/2010/main" val="295146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Shape 153"/>
          <p:cNvGrpSpPr/>
          <p:nvPr/>
        </p:nvGrpSpPr>
        <p:grpSpPr>
          <a:xfrm>
            <a:off x="8592673" y="2257126"/>
            <a:ext cx="2120822" cy="2983667"/>
            <a:chOff x="6718575" y="2318625"/>
            <a:chExt cx="256950" cy="407375"/>
          </a:xfrm>
        </p:grpSpPr>
        <p:sp>
          <p:nvSpPr>
            <p:cNvPr id="154" name="Shape 154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0" t="0" r="0" b="0"/>
              <a:pathLst>
                <a:path w="120000" h="120000" fill="none" extrusionOk="0">
                  <a:moveTo>
                    <a:pt x="120000" y="120000"/>
                  </a:moveTo>
                  <a:lnTo>
                    <a:pt x="120000" y="133"/>
                  </a:lnTo>
                  <a:lnTo>
                    <a:pt x="0" y="133"/>
                  </a:lnTo>
                  <a:lnTo>
                    <a:pt x="0" y="120000"/>
                  </a:lnTo>
                  <a:lnTo>
                    <a:pt x="120000" y="120000"/>
                  </a:lnTo>
                  <a:close/>
                </a:path>
              </a:pathLst>
            </a:custGeom>
            <a:noFill/>
            <a:ln w="76200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Calibri"/>
                <a:buNone/>
              </a:pPr>
              <a:endParaRPr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Shape 155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0" t="0" r="0" b="0"/>
              <a:pathLst>
                <a:path w="120000" h="120000" fill="none" extrusionOk="0">
                  <a:moveTo>
                    <a:pt x="120000" y="119866"/>
                  </a:moveTo>
                  <a:lnTo>
                    <a:pt x="120000" y="0"/>
                  </a:lnTo>
                  <a:lnTo>
                    <a:pt x="0" y="0"/>
                  </a:lnTo>
                  <a:lnTo>
                    <a:pt x="0" y="119866"/>
                  </a:lnTo>
                  <a:lnTo>
                    <a:pt x="120000" y="119866"/>
                  </a:lnTo>
                  <a:close/>
                </a:path>
              </a:pathLst>
            </a:custGeom>
            <a:noFill/>
            <a:ln w="76200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Calibri"/>
                <a:buNone/>
              </a:pPr>
              <a:endParaRPr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Shape 156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0" t="0" r="0" b="0"/>
              <a:pathLst>
                <a:path w="120000" h="120000" fill="none" extrusionOk="0">
                  <a:moveTo>
                    <a:pt x="0" y="100"/>
                  </a:moveTo>
                  <a:lnTo>
                    <a:pt x="0" y="17171"/>
                  </a:lnTo>
                  <a:lnTo>
                    <a:pt x="0" y="17171"/>
                  </a:lnTo>
                  <a:lnTo>
                    <a:pt x="703" y="31933"/>
                  </a:lnTo>
                  <a:lnTo>
                    <a:pt x="2873" y="46594"/>
                  </a:lnTo>
                  <a:lnTo>
                    <a:pt x="5718" y="58744"/>
                  </a:lnTo>
                  <a:lnTo>
                    <a:pt x="10000" y="66175"/>
                  </a:lnTo>
                  <a:lnTo>
                    <a:pt x="54985" y="117489"/>
                  </a:lnTo>
                  <a:lnTo>
                    <a:pt x="54985" y="117489"/>
                  </a:lnTo>
                  <a:lnTo>
                    <a:pt x="60000" y="119899"/>
                  </a:lnTo>
                  <a:lnTo>
                    <a:pt x="60000" y="119899"/>
                  </a:lnTo>
                  <a:lnTo>
                    <a:pt x="64985" y="117489"/>
                  </a:lnTo>
                  <a:lnTo>
                    <a:pt x="110000" y="66175"/>
                  </a:lnTo>
                  <a:lnTo>
                    <a:pt x="110000" y="66175"/>
                  </a:lnTo>
                  <a:lnTo>
                    <a:pt x="114281" y="58744"/>
                  </a:lnTo>
                  <a:lnTo>
                    <a:pt x="117126" y="46594"/>
                  </a:lnTo>
                  <a:lnTo>
                    <a:pt x="119266" y="31933"/>
                  </a:lnTo>
                  <a:lnTo>
                    <a:pt x="120000" y="17171"/>
                  </a:lnTo>
                  <a:lnTo>
                    <a:pt x="120000" y="100"/>
                  </a:lnTo>
                  <a:lnTo>
                    <a:pt x="0" y="100"/>
                  </a:lnTo>
                  <a:close/>
                </a:path>
              </a:pathLst>
            </a:custGeom>
            <a:noFill/>
            <a:ln w="76200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Calibri"/>
                <a:buNone/>
              </a:pPr>
              <a:endParaRPr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Shape 157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0" t="0" r="0" b="0"/>
              <a:pathLst>
                <a:path w="120000" h="120000" fill="none" extrusionOk="0">
                  <a:moveTo>
                    <a:pt x="119915" y="119982"/>
                  </a:moveTo>
                  <a:lnTo>
                    <a:pt x="119915" y="119982"/>
                  </a:lnTo>
                  <a:lnTo>
                    <a:pt x="49646" y="51235"/>
                  </a:lnTo>
                  <a:lnTo>
                    <a:pt x="84" y="17"/>
                  </a:lnTo>
                </a:path>
              </a:pathLst>
            </a:custGeom>
            <a:noFill/>
            <a:ln w="76200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Calibri"/>
                <a:buNone/>
              </a:pPr>
              <a:endParaRPr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Shape 158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0" t="0" r="0" b="0"/>
              <a:pathLst>
                <a:path w="120000" h="120000" fill="none" extrusionOk="0">
                  <a:moveTo>
                    <a:pt x="83887" y="119990"/>
                  </a:moveTo>
                  <a:lnTo>
                    <a:pt x="83887" y="119990"/>
                  </a:lnTo>
                  <a:lnTo>
                    <a:pt x="85312" y="114761"/>
                  </a:lnTo>
                  <a:lnTo>
                    <a:pt x="87297" y="109776"/>
                  </a:lnTo>
                  <a:lnTo>
                    <a:pt x="89573" y="105025"/>
                  </a:lnTo>
                  <a:lnTo>
                    <a:pt x="92130" y="100743"/>
                  </a:lnTo>
                  <a:lnTo>
                    <a:pt x="94979" y="96704"/>
                  </a:lnTo>
                  <a:lnTo>
                    <a:pt x="97816" y="92665"/>
                  </a:lnTo>
                  <a:lnTo>
                    <a:pt x="104074" y="85066"/>
                  </a:lnTo>
                  <a:lnTo>
                    <a:pt x="107203" y="81261"/>
                  </a:lnTo>
                  <a:lnTo>
                    <a:pt x="110040" y="77466"/>
                  </a:lnTo>
                  <a:lnTo>
                    <a:pt x="112609" y="73662"/>
                  </a:lnTo>
                  <a:lnTo>
                    <a:pt x="115166" y="69389"/>
                  </a:lnTo>
                  <a:lnTo>
                    <a:pt x="117151" y="65106"/>
                  </a:lnTo>
                  <a:lnTo>
                    <a:pt x="118575" y="60356"/>
                  </a:lnTo>
                  <a:lnTo>
                    <a:pt x="119427" y="55371"/>
                  </a:lnTo>
                  <a:lnTo>
                    <a:pt x="119708" y="52756"/>
                  </a:lnTo>
                  <a:lnTo>
                    <a:pt x="120000" y="50142"/>
                  </a:lnTo>
                  <a:lnTo>
                    <a:pt x="120000" y="50142"/>
                  </a:lnTo>
                  <a:lnTo>
                    <a:pt x="119427" y="44913"/>
                  </a:lnTo>
                  <a:lnTo>
                    <a:pt x="118575" y="39928"/>
                  </a:lnTo>
                  <a:lnTo>
                    <a:pt x="117151" y="35167"/>
                  </a:lnTo>
                  <a:lnTo>
                    <a:pt x="115166" y="30660"/>
                  </a:lnTo>
                  <a:lnTo>
                    <a:pt x="112609" y="26144"/>
                  </a:lnTo>
                  <a:lnTo>
                    <a:pt x="109760" y="22105"/>
                  </a:lnTo>
                  <a:lnTo>
                    <a:pt x="106059" y="18300"/>
                  </a:lnTo>
                  <a:lnTo>
                    <a:pt x="102370" y="14740"/>
                  </a:lnTo>
                  <a:lnTo>
                    <a:pt x="98096" y="11413"/>
                  </a:lnTo>
                  <a:lnTo>
                    <a:pt x="93555" y="8565"/>
                  </a:lnTo>
                  <a:lnTo>
                    <a:pt x="88429" y="6184"/>
                  </a:lnTo>
                  <a:lnTo>
                    <a:pt x="83315" y="4048"/>
                  </a:lnTo>
                  <a:lnTo>
                    <a:pt x="77910" y="2380"/>
                  </a:lnTo>
                  <a:lnTo>
                    <a:pt x="71943" y="956"/>
                  </a:lnTo>
                  <a:lnTo>
                    <a:pt x="66258" y="243"/>
                  </a:lnTo>
                  <a:lnTo>
                    <a:pt x="60000" y="9"/>
                  </a:lnTo>
                  <a:lnTo>
                    <a:pt x="60000" y="9"/>
                  </a:lnTo>
                  <a:lnTo>
                    <a:pt x="53741" y="243"/>
                  </a:lnTo>
                  <a:lnTo>
                    <a:pt x="48056" y="956"/>
                  </a:lnTo>
                  <a:lnTo>
                    <a:pt x="42089" y="2380"/>
                  </a:lnTo>
                  <a:lnTo>
                    <a:pt x="36684" y="4048"/>
                  </a:lnTo>
                  <a:lnTo>
                    <a:pt x="31558" y="6184"/>
                  </a:lnTo>
                  <a:lnTo>
                    <a:pt x="26444" y="8565"/>
                  </a:lnTo>
                  <a:lnTo>
                    <a:pt x="21891" y="11413"/>
                  </a:lnTo>
                  <a:lnTo>
                    <a:pt x="17629" y="14740"/>
                  </a:lnTo>
                  <a:lnTo>
                    <a:pt x="13928" y="18300"/>
                  </a:lnTo>
                  <a:lnTo>
                    <a:pt x="10239" y="22105"/>
                  </a:lnTo>
                  <a:lnTo>
                    <a:pt x="7390" y="26144"/>
                  </a:lnTo>
                  <a:lnTo>
                    <a:pt x="4833" y="30660"/>
                  </a:lnTo>
                  <a:lnTo>
                    <a:pt x="2848" y="35167"/>
                  </a:lnTo>
                  <a:lnTo>
                    <a:pt x="1424" y="39928"/>
                  </a:lnTo>
                  <a:lnTo>
                    <a:pt x="572" y="44913"/>
                  </a:lnTo>
                  <a:lnTo>
                    <a:pt x="0" y="50142"/>
                  </a:lnTo>
                  <a:lnTo>
                    <a:pt x="0" y="50142"/>
                  </a:lnTo>
                  <a:lnTo>
                    <a:pt x="280" y="52756"/>
                  </a:lnTo>
                  <a:lnTo>
                    <a:pt x="572" y="55371"/>
                  </a:lnTo>
                  <a:lnTo>
                    <a:pt x="1424" y="60356"/>
                  </a:lnTo>
                  <a:lnTo>
                    <a:pt x="2848" y="65106"/>
                  </a:lnTo>
                  <a:lnTo>
                    <a:pt x="4833" y="69389"/>
                  </a:lnTo>
                  <a:lnTo>
                    <a:pt x="7390" y="73662"/>
                  </a:lnTo>
                  <a:lnTo>
                    <a:pt x="9947" y="77466"/>
                  </a:lnTo>
                  <a:lnTo>
                    <a:pt x="12796" y="81261"/>
                  </a:lnTo>
                  <a:lnTo>
                    <a:pt x="15925" y="85066"/>
                  </a:lnTo>
                  <a:lnTo>
                    <a:pt x="22183" y="92665"/>
                  </a:lnTo>
                  <a:lnTo>
                    <a:pt x="25020" y="96704"/>
                  </a:lnTo>
                  <a:lnTo>
                    <a:pt x="27869" y="100743"/>
                  </a:lnTo>
                  <a:lnTo>
                    <a:pt x="30426" y="105025"/>
                  </a:lnTo>
                  <a:lnTo>
                    <a:pt x="32702" y="109776"/>
                  </a:lnTo>
                  <a:lnTo>
                    <a:pt x="34687" y="114761"/>
                  </a:lnTo>
                  <a:lnTo>
                    <a:pt x="36112" y="119990"/>
                  </a:lnTo>
                </a:path>
              </a:pathLst>
            </a:custGeom>
            <a:noFill/>
            <a:ln w="76200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Calibri"/>
                <a:buNone/>
              </a:pPr>
              <a:endParaRPr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Shape 159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0" t="0" r="0" b="0"/>
              <a:pathLst>
                <a:path w="120000" h="120000" fill="none" extrusionOk="0">
                  <a:moveTo>
                    <a:pt x="119915" y="17"/>
                  </a:moveTo>
                  <a:lnTo>
                    <a:pt x="119915" y="17"/>
                  </a:lnTo>
                  <a:lnTo>
                    <a:pt x="70353" y="51235"/>
                  </a:lnTo>
                  <a:lnTo>
                    <a:pt x="84" y="119982"/>
                  </a:lnTo>
                </a:path>
              </a:pathLst>
            </a:custGeom>
            <a:noFill/>
            <a:ln w="76200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Calibri"/>
                <a:buNone/>
              </a:pPr>
              <a:endParaRPr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Shape 160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0" t="0" r="0" b="0"/>
              <a:pathLst>
                <a:path w="120000" h="120000" fill="none" extrusionOk="0">
                  <a:moveTo>
                    <a:pt x="33" y="11230"/>
                  </a:moveTo>
                  <a:lnTo>
                    <a:pt x="27587" y="120000"/>
                  </a:lnTo>
                  <a:lnTo>
                    <a:pt x="55141" y="11230"/>
                  </a:lnTo>
                  <a:lnTo>
                    <a:pt x="55141" y="11230"/>
                  </a:lnTo>
                  <a:lnTo>
                    <a:pt x="57570" y="3846"/>
                  </a:lnTo>
                  <a:lnTo>
                    <a:pt x="60000" y="0"/>
                  </a:lnTo>
                  <a:lnTo>
                    <a:pt x="62429" y="3846"/>
                  </a:lnTo>
                  <a:lnTo>
                    <a:pt x="64858" y="11230"/>
                  </a:lnTo>
                  <a:lnTo>
                    <a:pt x="92412" y="120000"/>
                  </a:lnTo>
                  <a:lnTo>
                    <a:pt x="119966" y="11230"/>
                  </a:lnTo>
                </a:path>
              </a:pathLst>
            </a:custGeom>
            <a:noFill/>
            <a:ln w="76200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Calibri"/>
                <a:buNone/>
              </a:pPr>
              <a:endParaRPr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Shape 161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0" t="0" r="0" b="0"/>
              <a:pathLst>
                <a:path w="120000" h="120000" fill="none" extrusionOk="0">
                  <a:moveTo>
                    <a:pt x="0" y="120000"/>
                  </a:moveTo>
                  <a:lnTo>
                    <a:pt x="120000" y="120000"/>
                  </a:lnTo>
                </a:path>
              </a:pathLst>
            </a:custGeom>
            <a:noFill/>
            <a:ln w="76200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Calibri"/>
                <a:buNone/>
              </a:pPr>
              <a:endParaRPr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5" name="Image 4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544" y="1844824"/>
            <a:ext cx="8381744" cy="431996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Espace réservé du numéro de diapositive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None/>
            </a:pPr>
            <a:fld id="{00000000-1234-1234-1234-123412341234}" type="slidenum">
              <a:rPr lang="fr-FR" smtClean="0">
                <a:solidFill>
                  <a:srgbClr val="888888"/>
                </a:solidFill>
                <a:latin typeface="Roboto (Corps)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buNone/>
              </a:pPr>
              <a:t>7</a:t>
            </a:fld>
            <a:endParaRPr lang="fr-FR" sz="1200" dirty="0">
              <a:solidFill>
                <a:srgbClr val="888888"/>
              </a:solidFill>
              <a:latin typeface="Roboto (Corps)"/>
              <a:ea typeface="Calibri"/>
              <a:cs typeface="Calibri"/>
              <a:sym typeface="Calibri"/>
            </a:endParaRPr>
          </a:p>
        </p:txBody>
      </p:sp>
      <p:sp>
        <p:nvSpPr>
          <p:cNvPr id="15" name="CuadroTexto 4">
            <a:extLst>
              <a:ext uri="{FF2B5EF4-FFF2-40B4-BE49-F238E27FC236}">
                <a16:creationId xmlns:a16="http://schemas.microsoft.com/office/drawing/2014/main" id="{31EB9C9B-D623-EA40-AD34-9F3F6852A017}"/>
              </a:ext>
            </a:extLst>
          </p:cNvPr>
          <p:cNvSpPr txBox="1"/>
          <p:nvPr/>
        </p:nvSpPr>
        <p:spPr>
          <a:xfrm>
            <a:off x="3567078" y="1006931"/>
            <a:ext cx="4824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 Light" charset="0"/>
                <a:cs typeface="Lato Light" charset="0"/>
              </a:rPr>
              <a:t>Architecture</a:t>
            </a:r>
            <a:r>
              <a:rPr kumimoji="0" lang="fr-FR" sz="3600" b="1" i="0" u="none" strike="noStrike" kern="1200" cap="none" spc="0" normalizeH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 Light" charset="0"/>
                <a:cs typeface="Lato Light" charset="0"/>
              </a:rPr>
              <a:t> global</a:t>
            </a:r>
            <a:endParaRPr kumimoji="0" lang="fr-FR" sz="3600" b="1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 Light" charset="0"/>
              <a:cs typeface="Lato Light" charset="0"/>
            </a:endParaRPr>
          </a:p>
        </p:txBody>
      </p:sp>
      <p:sp>
        <p:nvSpPr>
          <p:cNvPr id="16" name="Shape 182"/>
          <p:cNvSpPr txBox="1"/>
          <p:nvPr/>
        </p:nvSpPr>
        <p:spPr>
          <a:xfrm>
            <a:off x="407368" y="191986"/>
            <a:ext cx="9055231" cy="76367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/>
          <a:p>
            <a:pPr>
              <a:buClr>
                <a:srgbClr val="FFC000"/>
              </a:buClr>
            </a:pPr>
            <a:r>
              <a:rPr lang="fr-FR" sz="4800" dirty="0">
                <a:solidFill>
                  <a:srgbClr val="0060B8"/>
                </a:solidFill>
                <a:latin typeface="Lato Regular" panose="020F0502020204030203" pitchFamily="34" charset="0"/>
              </a:rPr>
              <a:t>ScanIT:</a:t>
            </a:r>
            <a:endParaRPr lang="fr-FR" sz="4800" b="1" dirty="0">
              <a:solidFill>
                <a:srgbClr val="0060B8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  <p:extLst>
      <p:ext uri="{BB962C8B-B14F-4D97-AF65-F5344CB8AC3E}">
        <p14:creationId xmlns:p14="http://schemas.microsoft.com/office/powerpoint/2010/main" val="3866764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 41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914" y="1347399"/>
            <a:ext cx="2289810" cy="562610"/>
          </a:xfrm>
          <a:prstGeom prst="rect">
            <a:avLst/>
          </a:prstGeom>
          <a:noFill/>
        </p:spPr>
      </p:pic>
      <p:pic>
        <p:nvPicPr>
          <p:cNvPr id="46" name="Image 45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184" y="4920268"/>
            <a:ext cx="2034540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Image 4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5088544"/>
            <a:ext cx="2439670" cy="682625"/>
          </a:xfrm>
          <a:prstGeom prst="rect">
            <a:avLst/>
          </a:prstGeom>
        </p:spPr>
      </p:pic>
      <p:sp>
        <p:nvSpPr>
          <p:cNvPr id="6" name="Espace réservé du numéro de diapositive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None/>
            </a:pPr>
            <a:fld id="{00000000-1234-1234-1234-123412341234}" type="slidenum">
              <a:rPr lang="fr-FR" smtClean="0">
                <a:solidFill>
                  <a:srgbClr val="888888"/>
                </a:solidFill>
                <a:latin typeface="Roboto (Corps)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buNone/>
              </a:pPr>
              <a:t>8</a:t>
            </a:fld>
            <a:endParaRPr lang="fr-FR" sz="1200" dirty="0">
              <a:solidFill>
                <a:srgbClr val="888888"/>
              </a:solidFill>
              <a:latin typeface="Roboto (Corps)"/>
              <a:ea typeface="Calibri"/>
              <a:cs typeface="Calibri"/>
              <a:sym typeface="Calibri"/>
            </a:endParaRPr>
          </a:p>
        </p:txBody>
      </p:sp>
      <p:sp>
        <p:nvSpPr>
          <p:cNvPr id="10" name="Shape 182"/>
          <p:cNvSpPr txBox="1"/>
          <p:nvPr/>
        </p:nvSpPr>
        <p:spPr>
          <a:xfrm>
            <a:off x="347034" y="291131"/>
            <a:ext cx="9635166" cy="76367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/>
          <a:p>
            <a:pPr>
              <a:buClr>
                <a:srgbClr val="FFC000"/>
              </a:buClr>
            </a:pPr>
            <a:r>
              <a:rPr lang="fr-FR" sz="4800" dirty="0">
                <a:solidFill>
                  <a:srgbClr val="0072DA"/>
                </a:solidFill>
                <a:latin typeface="Lato Regular" panose="020F0502020204030203" pitchFamily="34" charset="0"/>
                <a:ea typeface="Montserrat"/>
                <a:cs typeface="Montserrat"/>
                <a:sym typeface="Montserrat"/>
              </a:rPr>
              <a:t>Réalisation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550" y="1022567"/>
            <a:ext cx="3524250" cy="129540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953" y="2548010"/>
            <a:ext cx="2857500" cy="1600200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299027"/>
            <a:ext cx="2209800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918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Shape 153"/>
          <p:cNvGrpSpPr/>
          <p:nvPr/>
        </p:nvGrpSpPr>
        <p:grpSpPr>
          <a:xfrm>
            <a:off x="8592673" y="2257126"/>
            <a:ext cx="2120822" cy="2983667"/>
            <a:chOff x="6718575" y="2318625"/>
            <a:chExt cx="256950" cy="407375"/>
          </a:xfrm>
        </p:grpSpPr>
        <p:sp>
          <p:nvSpPr>
            <p:cNvPr id="154" name="Shape 154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0" t="0" r="0" b="0"/>
              <a:pathLst>
                <a:path w="120000" h="120000" fill="none" extrusionOk="0">
                  <a:moveTo>
                    <a:pt x="120000" y="120000"/>
                  </a:moveTo>
                  <a:lnTo>
                    <a:pt x="120000" y="133"/>
                  </a:lnTo>
                  <a:lnTo>
                    <a:pt x="0" y="133"/>
                  </a:lnTo>
                  <a:lnTo>
                    <a:pt x="0" y="120000"/>
                  </a:lnTo>
                  <a:lnTo>
                    <a:pt x="120000" y="120000"/>
                  </a:lnTo>
                  <a:close/>
                </a:path>
              </a:pathLst>
            </a:custGeom>
            <a:noFill/>
            <a:ln w="76200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Calibri"/>
                <a:buNone/>
              </a:pPr>
              <a:endParaRPr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Shape 155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0" t="0" r="0" b="0"/>
              <a:pathLst>
                <a:path w="120000" h="120000" fill="none" extrusionOk="0">
                  <a:moveTo>
                    <a:pt x="120000" y="119866"/>
                  </a:moveTo>
                  <a:lnTo>
                    <a:pt x="120000" y="0"/>
                  </a:lnTo>
                  <a:lnTo>
                    <a:pt x="0" y="0"/>
                  </a:lnTo>
                  <a:lnTo>
                    <a:pt x="0" y="119866"/>
                  </a:lnTo>
                  <a:lnTo>
                    <a:pt x="120000" y="119866"/>
                  </a:lnTo>
                  <a:close/>
                </a:path>
              </a:pathLst>
            </a:custGeom>
            <a:noFill/>
            <a:ln w="76200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Calibri"/>
                <a:buNone/>
              </a:pPr>
              <a:endParaRPr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Shape 156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0" t="0" r="0" b="0"/>
              <a:pathLst>
                <a:path w="120000" h="120000" fill="none" extrusionOk="0">
                  <a:moveTo>
                    <a:pt x="0" y="100"/>
                  </a:moveTo>
                  <a:lnTo>
                    <a:pt x="0" y="17171"/>
                  </a:lnTo>
                  <a:lnTo>
                    <a:pt x="0" y="17171"/>
                  </a:lnTo>
                  <a:lnTo>
                    <a:pt x="703" y="31933"/>
                  </a:lnTo>
                  <a:lnTo>
                    <a:pt x="2873" y="46594"/>
                  </a:lnTo>
                  <a:lnTo>
                    <a:pt x="5718" y="58744"/>
                  </a:lnTo>
                  <a:lnTo>
                    <a:pt x="10000" y="66175"/>
                  </a:lnTo>
                  <a:lnTo>
                    <a:pt x="54985" y="117489"/>
                  </a:lnTo>
                  <a:lnTo>
                    <a:pt x="54985" y="117489"/>
                  </a:lnTo>
                  <a:lnTo>
                    <a:pt x="60000" y="119899"/>
                  </a:lnTo>
                  <a:lnTo>
                    <a:pt x="60000" y="119899"/>
                  </a:lnTo>
                  <a:lnTo>
                    <a:pt x="64985" y="117489"/>
                  </a:lnTo>
                  <a:lnTo>
                    <a:pt x="110000" y="66175"/>
                  </a:lnTo>
                  <a:lnTo>
                    <a:pt x="110000" y="66175"/>
                  </a:lnTo>
                  <a:lnTo>
                    <a:pt x="114281" y="58744"/>
                  </a:lnTo>
                  <a:lnTo>
                    <a:pt x="117126" y="46594"/>
                  </a:lnTo>
                  <a:lnTo>
                    <a:pt x="119266" y="31933"/>
                  </a:lnTo>
                  <a:lnTo>
                    <a:pt x="120000" y="17171"/>
                  </a:lnTo>
                  <a:lnTo>
                    <a:pt x="120000" y="100"/>
                  </a:lnTo>
                  <a:lnTo>
                    <a:pt x="0" y="100"/>
                  </a:lnTo>
                  <a:close/>
                </a:path>
              </a:pathLst>
            </a:custGeom>
            <a:noFill/>
            <a:ln w="76200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Calibri"/>
                <a:buNone/>
              </a:pPr>
              <a:endParaRPr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Shape 157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0" t="0" r="0" b="0"/>
              <a:pathLst>
                <a:path w="120000" h="120000" fill="none" extrusionOk="0">
                  <a:moveTo>
                    <a:pt x="119915" y="119982"/>
                  </a:moveTo>
                  <a:lnTo>
                    <a:pt x="119915" y="119982"/>
                  </a:lnTo>
                  <a:lnTo>
                    <a:pt x="49646" y="51235"/>
                  </a:lnTo>
                  <a:lnTo>
                    <a:pt x="84" y="17"/>
                  </a:lnTo>
                </a:path>
              </a:pathLst>
            </a:custGeom>
            <a:noFill/>
            <a:ln w="76200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Calibri"/>
                <a:buNone/>
              </a:pPr>
              <a:endParaRPr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Shape 158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0" t="0" r="0" b="0"/>
              <a:pathLst>
                <a:path w="120000" h="120000" fill="none" extrusionOk="0">
                  <a:moveTo>
                    <a:pt x="83887" y="119990"/>
                  </a:moveTo>
                  <a:lnTo>
                    <a:pt x="83887" y="119990"/>
                  </a:lnTo>
                  <a:lnTo>
                    <a:pt x="85312" y="114761"/>
                  </a:lnTo>
                  <a:lnTo>
                    <a:pt x="87297" y="109776"/>
                  </a:lnTo>
                  <a:lnTo>
                    <a:pt x="89573" y="105025"/>
                  </a:lnTo>
                  <a:lnTo>
                    <a:pt x="92130" y="100743"/>
                  </a:lnTo>
                  <a:lnTo>
                    <a:pt x="94979" y="96704"/>
                  </a:lnTo>
                  <a:lnTo>
                    <a:pt x="97816" y="92665"/>
                  </a:lnTo>
                  <a:lnTo>
                    <a:pt x="104074" y="85066"/>
                  </a:lnTo>
                  <a:lnTo>
                    <a:pt x="107203" y="81261"/>
                  </a:lnTo>
                  <a:lnTo>
                    <a:pt x="110040" y="77466"/>
                  </a:lnTo>
                  <a:lnTo>
                    <a:pt x="112609" y="73662"/>
                  </a:lnTo>
                  <a:lnTo>
                    <a:pt x="115166" y="69389"/>
                  </a:lnTo>
                  <a:lnTo>
                    <a:pt x="117151" y="65106"/>
                  </a:lnTo>
                  <a:lnTo>
                    <a:pt x="118575" y="60356"/>
                  </a:lnTo>
                  <a:lnTo>
                    <a:pt x="119427" y="55371"/>
                  </a:lnTo>
                  <a:lnTo>
                    <a:pt x="119708" y="52756"/>
                  </a:lnTo>
                  <a:lnTo>
                    <a:pt x="120000" y="50142"/>
                  </a:lnTo>
                  <a:lnTo>
                    <a:pt x="120000" y="50142"/>
                  </a:lnTo>
                  <a:lnTo>
                    <a:pt x="119427" y="44913"/>
                  </a:lnTo>
                  <a:lnTo>
                    <a:pt x="118575" y="39928"/>
                  </a:lnTo>
                  <a:lnTo>
                    <a:pt x="117151" y="35167"/>
                  </a:lnTo>
                  <a:lnTo>
                    <a:pt x="115166" y="30660"/>
                  </a:lnTo>
                  <a:lnTo>
                    <a:pt x="112609" y="26144"/>
                  </a:lnTo>
                  <a:lnTo>
                    <a:pt x="109760" y="22105"/>
                  </a:lnTo>
                  <a:lnTo>
                    <a:pt x="106059" y="18300"/>
                  </a:lnTo>
                  <a:lnTo>
                    <a:pt x="102370" y="14740"/>
                  </a:lnTo>
                  <a:lnTo>
                    <a:pt x="98096" y="11413"/>
                  </a:lnTo>
                  <a:lnTo>
                    <a:pt x="93555" y="8565"/>
                  </a:lnTo>
                  <a:lnTo>
                    <a:pt x="88429" y="6184"/>
                  </a:lnTo>
                  <a:lnTo>
                    <a:pt x="83315" y="4048"/>
                  </a:lnTo>
                  <a:lnTo>
                    <a:pt x="77910" y="2380"/>
                  </a:lnTo>
                  <a:lnTo>
                    <a:pt x="71943" y="956"/>
                  </a:lnTo>
                  <a:lnTo>
                    <a:pt x="66258" y="243"/>
                  </a:lnTo>
                  <a:lnTo>
                    <a:pt x="60000" y="9"/>
                  </a:lnTo>
                  <a:lnTo>
                    <a:pt x="60000" y="9"/>
                  </a:lnTo>
                  <a:lnTo>
                    <a:pt x="53741" y="243"/>
                  </a:lnTo>
                  <a:lnTo>
                    <a:pt x="48056" y="956"/>
                  </a:lnTo>
                  <a:lnTo>
                    <a:pt x="42089" y="2380"/>
                  </a:lnTo>
                  <a:lnTo>
                    <a:pt x="36684" y="4048"/>
                  </a:lnTo>
                  <a:lnTo>
                    <a:pt x="31558" y="6184"/>
                  </a:lnTo>
                  <a:lnTo>
                    <a:pt x="26444" y="8565"/>
                  </a:lnTo>
                  <a:lnTo>
                    <a:pt x="21891" y="11413"/>
                  </a:lnTo>
                  <a:lnTo>
                    <a:pt x="17629" y="14740"/>
                  </a:lnTo>
                  <a:lnTo>
                    <a:pt x="13928" y="18300"/>
                  </a:lnTo>
                  <a:lnTo>
                    <a:pt x="10239" y="22105"/>
                  </a:lnTo>
                  <a:lnTo>
                    <a:pt x="7390" y="26144"/>
                  </a:lnTo>
                  <a:lnTo>
                    <a:pt x="4833" y="30660"/>
                  </a:lnTo>
                  <a:lnTo>
                    <a:pt x="2848" y="35167"/>
                  </a:lnTo>
                  <a:lnTo>
                    <a:pt x="1424" y="39928"/>
                  </a:lnTo>
                  <a:lnTo>
                    <a:pt x="572" y="44913"/>
                  </a:lnTo>
                  <a:lnTo>
                    <a:pt x="0" y="50142"/>
                  </a:lnTo>
                  <a:lnTo>
                    <a:pt x="0" y="50142"/>
                  </a:lnTo>
                  <a:lnTo>
                    <a:pt x="280" y="52756"/>
                  </a:lnTo>
                  <a:lnTo>
                    <a:pt x="572" y="55371"/>
                  </a:lnTo>
                  <a:lnTo>
                    <a:pt x="1424" y="60356"/>
                  </a:lnTo>
                  <a:lnTo>
                    <a:pt x="2848" y="65106"/>
                  </a:lnTo>
                  <a:lnTo>
                    <a:pt x="4833" y="69389"/>
                  </a:lnTo>
                  <a:lnTo>
                    <a:pt x="7390" y="73662"/>
                  </a:lnTo>
                  <a:lnTo>
                    <a:pt x="9947" y="77466"/>
                  </a:lnTo>
                  <a:lnTo>
                    <a:pt x="12796" y="81261"/>
                  </a:lnTo>
                  <a:lnTo>
                    <a:pt x="15925" y="85066"/>
                  </a:lnTo>
                  <a:lnTo>
                    <a:pt x="22183" y="92665"/>
                  </a:lnTo>
                  <a:lnTo>
                    <a:pt x="25020" y="96704"/>
                  </a:lnTo>
                  <a:lnTo>
                    <a:pt x="27869" y="100743"/>
                  </a:lnTo>
                  <a:lnTo>
                    <a:pt x="30426" y="105025"/>
                  </a:lnTo>
                  <a:lnTo>
                    <a:pt x="32702" y="109776"/>
                  </a:lnTo>
                  <a:lnTo>
                    <a:pt x="34687" y="114761"/>
                  </a:lnTo>
                  <a:lnTo>
                    <a:pt x="36112" y="119990"/>
                  </a:lnTo>
                </a:path>
              </a:pathLst>
            </a:custGeom>
            <a:noFill/>
            <a:ln w="76200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Calibri"/>
                <a:buNone/>
              </a:pPr>
              <a:endParaRPr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Shape 159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0" t="0" r="0" b="0"/>
              <a:pathLst>
                <a:path w="120000" h="120000" fill="none" extrusionOk="0">
                  <a:moveTo>
                    <a:pt x="119915" y="17"/>
                  </a:moveTo>
                  <a:lnTo>
                    <a:pt x="119915" y="17"/>
                  </a:lnTo>
                  <a:lnTo>
                    <a:pt x="70353" y="51235"/>
                  </a:lnTo>
                  <a:lnTo>
                    <a:pt x="84" y="119982"/>
                  </a:lnTo>
                </a:path>
              </a:pathLst>
            </a:custGeom>
            <a:noFill/>
            <a:ln w="76200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Calibri"/>
                <a:buNone/>
              </a:pPr>
              <a:endParaRPr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Shape 160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0" t="0" r="0" b="0"/>
              <a:pathLst>
                <a:path w="120000" h="120000" fill="none" extrusionOk="0">
                  <a:moveTo>
                    <a:pt x="33" y="11230"/>
                  </a:moveTo>
                  <a:lnTo>
                    <a:pt x="27587" y="120000"/>
                  </a:lnTo>
                  <a:lnTo>
                    <a:pt x="55141" y="11230"/>
                  </a:lnTo>
                  <a:lnTo>
                    <a:pt x="55141" y="11230"/>
                  </a:lnTo>
                  <a:lnTo>
                    <a:pt x="57570" y="3846"/>
                  </a:lnTo>
                  <a:lnTo>
                    <a:pt x="60000" y="0"/>
                  </a:lnTo>
                  <a:lnTo>
                    <a:pt x="62429" y="3846"/>
                  </a:lnTo>
                  <a:lnTo>
                    <a:pt x="64858" y="11230"/>
                  </a:lnTo>
                  <a:lnTo>
                    <a:pt x="92412" y="120000"/>
                  </a:lnTo>
                  <a:lnTo>
                    <a:pt x="119966" y="11230"/>
                  </a:lnTo>
                </a:path>
              </a:pathLst>
            </a:custGeom>
            <a:noFill/>
            <a:ln w="76200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Calibri"/>
                <a:buNone/>
              </a:pPr>
              <a:endParaRPr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Shape 161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0" t="0" r="0" b="0"/>
              <a:pathLst>
                <a:path w="120000" h="120000" fill="none" extrusionOk="0">
                  <a:moveTo>
                    <a:pt x="0" y="120000"/>
                  </a:moveTo>
                  <a:lnTo>
                    <a:pt x="120000" y="120000"/>
                  </a:lnTo>
                </a:path>
              </a:pathLst>
            </a:custGeom>
            <a:noFill/>
            <a:ln w="76200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Calibri"/>
                <a:buNone/>
              </a:pPr>
              <a:endParaRPr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None/>
            </a:pPr>
            <a:fld id="{00000000-1234-1234-1234-123412341234}" type="slidenum">
              <a:rPr lang="fr-FR" smtClean="0">
                <a:solidFill>
                  <a:srgbClr val="888888"/>
                </a:solidFill>
                <a:latin typeface="Roboto (Corps)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buNone/>
              </a:pPr>
              <a:t>9</a:t>
            </a:fld>
            <a:endParaRPr lang="fr-FR" sz="1200" dirty="0">
              <a:solidFill>
                <a:srgbClr val="888888"/>
              </a:solidFill>
              <a:latin typeface="Roboto (Corps)"/>
              <a:ea typeface="Calibri"/>
              <a:cs typeface="Calibri"/>
              <a:sym typeface="Calibri"/>
            </a:endParaRPr>
          </a:p>
        </p:txBody>
      </p:sp>
      <p:sp>
        <p:nvSpPr>
          <p:cNvPr id="14" name="Shape 182"/>
          <p:cNvSpPr txBox="1"/>
          <p:nvPr/>
        </p:nvSpPr>
        <p:spPr>
          <a:xfrm>
            <a:off x="191344" y="169034"/>
            <a:ext cx="9635166" cy="76367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/>
          <a:p>
            <a:pPr>
              <a:buClr>
                <a:srgbClr val="FFC000"/>
              </a:buClr>
            </a:pPr>
            <a:r>
              <a:rPr lang="fr-FR" sz="4800" dirty="0">
                <a:solidFill>
                  <a:srgbClr val="0072DA"/>
                </a:solidFill>
                <a:latin typeface="Lato Regular" panose="020F0502020204030203" pitchFamily="34" charset="0"/>
                <a:ea typeface="Montserrat"/>
                <a:cs typeface="Montserrat"/>
                <a:sym typeface="Montserrat"/>
              </a:rPr>
              <a:t>Réalisation</a:t>
            </a:r>
          </a:p>
        </p:txBody>
      </p:sp>
      <p:pic>
        <p:nvPicPr>
          <p:cNvPr id="16" name="Image 1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739726"/>
            <a:ext cx="11521280" cy="561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31281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521</Words>
  <Application>Microsoft Office PowerPoint</Application>
  <PresentationFormat>Grand écran</PresentationFormat>
  <Paragraphs>82</Paragraphs>
  <Slides>9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24" baseType="lpstr">
      <vt:lpstr>Black Han Sans</vt:lpstr>
      <vt:lpstr>Abril Fatface</vt:lpstr>
      <vt:lpstr>Aptos</vt:lpstr>
      <vt:lpstr>Aptos Display</vt:lpstr>
      <vt:lpstr>Arial</vt:lpstr>
      <vt:lpstr>Calibri</vt:lpstr>
      <vt:lpstr>EB Garamond</vt:lpstr>
      <vt:lpstr>Fira Sans Medium</vt:lpstr>
      <vt:lpstr>Lato</vt:lpstr>
      <vt:lpstr>Lato Regular</vt:lpstr>
      <vt:lpstr>Open Sans</vt:lpstr>
      <vt:lpstr>Roboto (Corps)</vt:lpstr>
      <vt:lpstr>Trocchi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E24 anis belhadj</dc:creator>
  <cp:lastModifiedBy>E24 anis belhadj</cp:lastModifiedBy>
  <cp:revision>1</cp:revision>
  <dcterms:created xsi:type="dcterms:W3CDTF">2026-04-30T19:01:31Z</dcterms:created>
  <dcterms:modified xsi:type="dcterms:W3CDTF">2026-04-30T19:02:46Z</dcterms:modified>
</cp:coreProperties>
</file>